
<file path=[Content_Types].xml><?xml version="1.0" encoding="utf-8"?>
<Types xmlns="http://schemas.openxmlformats.org/package/2006/content-types">
  <Default Extension="jpeg" ContentType="image/jpeg"/>
  <Default Extension="jpg" ContentType="image/jpeg"/>
  <Default Extension="pdf" ContentType="image/unknown"/>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3"/>
  </p:notesMasterIdLst>
  <p:sldIdLst>
    <p:sldId id="288" r:id="rId3"/>
    <p:sldId id="290" r:id="rId4"/>
    <p:sldId id="274" r:id="rId5"/>
    <p:sldId id="313" r:id="rId6"/>
    <p:sldId id="289" r:id="rId7"/>
    <p:sldId id="285" r:id="rId8"/>
    <p:sldId id="259" r:id="rId9"/>
    <p:sldId id="312" r:id="rId10"/>
    <p:sldId id="258" r:id="rId11"/>
    <p:sldId id="260" r:id="rId12"/>
    <p:sldId id="262" r:id="rId13"/>
    <p:sldId id="261" r:id="rId14"/>
    <p:sldId id="279" r:id="rId15"/>
    <p:sldId id="269" r:id="rId16"/>
    <p:sldId id="293" r:id="rId17"/>
    <p:sldId id="294" r:id="rId18"/>
    <p:sldId id="295" r:id="rId19"/>
    <p:sldId id="296" r:id="rId20"/>
    <p:sldId id="281" r:id="rId21"/>
    <p:sldId id="282" r:id="rId22"/>
    <p:sldId id="257" r:id="rId23"/>
    <p:sldId id="283" r:id="rId24"/>
    <p:sldId id="284" r:id="rId25"/>
    <p:sldId id="266" r:id="rId26"/>
    <p:sldId id="304" r:id="rId27"/>
    <p:sldId id="305" r:id="rId28"/>
    <p:sldId id="303" r:id="rId29"/>
    <p:sldId id="309" r:id="rId30"/>
    <p:sldId id="310" r:id="rId31"/>
    <p:sldId id="31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54325" autoAdjust="0"/>
  </p:normalViewPr>
  <p:slideViewPr>
    <p:cSldViewPr snapToGrid="0">
      <p:cViewPr varScale="1">
        <p:scale>
          <a:sx n="69" d="100"/>
          <a:sy n="69" d="100"/>
        </p:scale>
        <p:origin x="372" y="60"/>
      </p:cViewPr>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101" d="100"/>
          <a:sy n="101" d="100"/>
        </p:scale>
        <p:origin x="2694"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86F4C2-AED4-4AE5-8B0C-12E8A645798C}"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6AEBEC-8D78-44B4-A09A-0DB020F46361}" type="slidenum">
              <a:rPr lang="en-US" smtClean="0"/>
              <a:t>‹#›</a:t>
            </a:fld>
            <a:endParaRPr lang="en-US"/>
          </a:p>
        </p:txBody>
      </p:sp>
    </p:spTree>
    <p:extLst>
      <p:ext uri="{BB962C8B-B14F-4D97-AF65-F5344CB8AC3E}">
        <p14:creationId xmlns:p14="http://schemas.microsoft.com/office/powerpoint/2010/main" val="86118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7b27b65d40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7b27b65d40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a:t>
            </a:r>
          </a:p>
          <a:p>
            <a:pPr marL="0" lvl="0" indent="0" algn="l" rtl="0">
              <a:spcBef>
                <a:spcPts val="0"/>
              </a:spcBef>
              <a:spcAft>
                <a:spcPts val="0"/>
              </a:spcAft>
              <a:buNone/>
            </a:pPr>
            <a:r>
              <a:rPr lang="en-US" dirty="0"/>
              <a:t>I’m Ron Turner. Audithentic.ai is the name of my company and is the link to its web site. We are in the business of mitigating internal fraud in small organizations, non-profits in particular.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Today’s session is about how we’ve exploited various layers of the Data Science stack and about an innovative statistical measure which we’ve named “Churn.” And to clarify, this not the “churn” in customer resource management (CRM) systems.  Instead our “churn” is a measure of human day-to-day activity in an organization’s ledger.</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Thanks for joining us in a trip that we hope will help you solve some tough-nut problems in your workplaces.</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we’re covering this morning did not come from nowhere. We were motivated by repeated by some painful scenarios and technology gaps. There is a lot to cover, so we will move quickly to give you an accurate and honest view of its fit in a small organization. The Agent architecture and process flow will expose the elements of the data science stack. We’ll explain why OWL is a key player. NGAME’s Training Matrix is the faithful EKG of the organization’s bookkeeping activity. Churn is the novel measure  that generates credible warnings as humanly readable “pictures.” Most importantly, we’ll invite you clone all of the 21K+ lines of code and ample documentation.</a:t>
            </a:r>
          </a:p>
          <a:p>
            <a:endParaRPr lang="en-US" dirty="0"/>
          </a:p>
          <a:p>
            <a:r>
              <a:rPr lang="en-US" dirty="0"/>
              <a:t>1:07</a:t>
            </a:r>
          </a:p>
          <a:p>
            <a:endParaRPr lang="en-US" dirty="0"/>
          </a:p>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a:t>
            </a:fld>
            <a:endParaRPr lang="en-US"/>
          </a:p>
        </p:txBody>
      </p:sp>
    </p:spTree>
    <p:extLst>
      <p:ext uri="{BB962C8B-B14F-4D97-AF65-F5344CB8AC3E}">
        <p14:creationId xmlns:p14="http://schemas.microsoft.com/office/powerpoint/2010/main" val="3228816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in the blazes did we ever get into this mess? How could Louise, of all people—hardworking bookkeeper and dear sister-in-law of the owner—wind up in federal custody?!</a:t>
            </a:r>
          </a:p>
          <a:p>
            <a:endParaRPr lang="en-US" dirty="0"/>
          </a:p>
          <a:p>
            <a:r>
              <a:rPr lang="en-US" dirty="0"/>
              <a:t>These are recent cases prosecuted just within miles of us. And it’s same everywhere and in all kinds of small organizations: charities, churches, PTA’s, Meals on Wheels, animal shelters, warming shelters….. How can this keep happening?</a:t>
            </a:r>
          </a:p>
          <a:p>
            <a:endParaRPr lang="en-US" dirty="0"/>
          </a:p>
          <a:p>
            <a:r>
              <a:rPr lang="en-US" dirty="0"/>
              <a:t>Well, actually for at least three simple reasons:</a:t>
            </a:r>
          </a:p>
          <a:p>
            <a:pPr marL="228600" indent="-228600">
              <a:buAutoNum type="arabicPeriod"/>
            </a:pPr>
            <a:r>
              <a:rPr lang="en-US" dirty="0"/>
              <a:t>The famous Fraud Triangle tells us that Louise—motivated by impending payments (“I’m </a:t>
            </a:r>
            <a:r>
              <a:rPr lang="en-US" dirty="0" err="1"/>
              <a:t>gonna</a:t>
            </a:r>
            <a:r>
              <a:rPr lang="en-US" dirty="0"/>
              <a:t> lose my house!) and with the most sincere rationalization (“I’ll pay it back…. Somehow”)—</a:t>
            </a:r>
            <a:r>
              <a:rPr lang="en-US" i="1" dirty="0"/>
              <a:t>CAN</a:t>
            </a:r>
            <a:r>
              <a:rPr lang="en-US" dirty="0"/>
              <a:t> embezzle. So she </a:t>
            </a:r>
            <a:r>
              <a:rPr lang="en-US" i="1" dirty="0"/>
              <a:t>DOES.</a:t>
            </a:r>
          </a:p>
          <a:p>
            <a:pPr marL="228600" indent="-228600">
              <a:buAutoNum type="arabicPeriod"/>
            </a:pPr>
            <a:r>
              <a:rPr lang="en-US" dirty="0"/>
              <a:t>But more importantly, the Chain of Trust is often week or broken.</a:t>
            </a:r>
          </a:p>
          <a:p>
            <a:pPr marL="228600" indent="-228600">
              <a:buAutoNum type="arabicPeriod"/>
            </a:pPr>
            <a:r>
              <a:rPr lang="en-US" dirty="0"/>
              <a:t>But why didn’t Larry, the financially responsible person (FRP) keep his eye on the books. After all, he’s got QuickBooks’ Audit Log. </a:t>
            </a:r>
          </a:p>
          <a:p>
            <a:pPr marL="228600" indent="-228600">
              <a:buAutoNum type="arabicPeriod"/>
            </a:pPr>
            <a:endParaRPr lang="en-US" dirty="0"/>
          </a:p>
          <a:p>
            <a:pPr marL="0" indent="0">
              <a:buNone/>
            </a:pPr>
            <a:r>
              <a:rPr lang="en-US" dirty="0"/>
              <a:t>1:14</a:t>
            </a:r>
          </a:p>
        </p:txBody>
      </p:sp>
      <p:sp>
        <p:nvSpPr>
          <p:cNvPr id="4" name="Slide Number Placeholder 3"/>
          <p:cNvSpPr>
            <a:spLocks noGrp="1"/>
          </p:cNvSpPr>
          <p:nvPr>
            <p:ph type="sldNum" sz="quarter" idx="5"/>
          </p:nvPr>
        </p:nvSpPr>
        <p:spPr/>
        <p:txBody>
          <a:bodyPr/>
          <a:lstStyle/>
          <a:p>
            <a:fld id="{F36AEBEC-8D78-44B4-A09A-0DB020F46361}" type="slidenum">
              <a:rPr lang="en-US" smtClean="0"/>
              <a:t>3</a:t>
            </a:fld>
            <a:endParaRPr lang="en-US"/>
          </a:p>
        </p:txBody>
      </p:sp>
    </p:spTree>
    <p:extLst>
      <p:ext uri="{BB962C8B-B14F-4D97-AF65-F5344CB8AC3E}">
        <p14:creationId xmlns:p14="http://schemas.microsoft.com/office/powerpoint/2010/main" val="1205321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small business owner who’s been embezzled, don’t tell me that I SHOULD have gone to QuickBooks more regularly to see exactly who did what! And besides, when I look at  “who did what?” in the Audit Log. It doesn’t give me the slightest hint of anything’s being fishy. </a:t>
            </a:r>
          </a:p>
          <a:p>
            <a:endParaRPr lang="en-US" dirty="0"/>
          </a:p>
          <a:p>
            <a:r>
              <a:rPr lang="en-US" dirty="0"/>
              <a:t>And I need more than Best Practices in ring binders. And we certainly can’t afford to bring in an internal auditor simply as a watchdog. I absolutely need to run to the Audit Log, but only when I know there’s a fire to put out. I HAVE to know then who did what, what they did, when they did it, every time they did it. The Audit Log is great. But give me a watchdog that keeps its eye on things CONTINUOUSLY and then warns me ON ITS OWN.</a:t>
            </a:r>
          </a:p>
          <a:p>
            <a:endParaRPr lang="en-US" dirty="0"/>
          </a:p>
          <a:p>
            <a:r>
              <a:rPr lang="en-US" dirty="0"/>
              <a:t>:50</a:t>
            </a:r>
          </a:p>
        </p:txBody>
      </p:sp>
      <p:sp>
        <p:nvSpPr>
          <p:cNvPr id="4" name="Slide Number Placeholder 3"/>
          <p:cNvSpPr>
            <a:spLocks noGrp="1"/>
          </p:cNvSpPr>
          <p:nvPr>
            <p:ph type="sldNum" sz="quarter" idx="5"/>
          </p:nvPr>
        </p:nvSpPr>
        <p:spPr/>
        <p:txBody>
          <a:bodyPr/>
          <a:lstStyle/>
          <a:p>
            <a:fld id="{F36AEBEC-8D78-44B4-A09A-0DB020F46361}" type="slidenum">
              <a:rPr lang="en-US" smtClean="0"/>
              <a:t>4</a:t>
            </a:fld>
            <a:endParaRPr lang="en-US"/>
          </a:p>
        </p:txBody>
      </p:sp>
    </p:spTree>
    <p:extLst>
      <p:ext uri="{BB962C8B-B14F-4D97-AF65-F5344CB8AC3E}">
        <p14:creationId xmlns:p14="http://schemas.microsoft.com/office/powerpoint/2010/main" val="372676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we’re looking at today is about open-source NGAME-CM for continuous monitoring. Audithentic.ai is our registered company name and the full link to our web page. As you can see from the language, our approach is modest and discreet.</a:t>
            </a:r>
          </a:p>
          <a:p>
            <a:endParaRPr lang="en-US" dirty="0"/>
          </a:p>
          <a:p>
            <a:r>
              <a:rPr lang="en-US" dirty="0"/>
              <a:t>It makes no claims about replacing a live internal auditor or providing a full internal audit or offering trial-level admissible evidence.</a:t>
            </a:r>
          </a:p>
          <a:p>
            <a:r>
              <a:rPr lang="en-US" dirty="0"/>
              <a:t>It does not access system audit logs to determine a user’s identity.</a:t>
            </a:r>
          </a:p>
          <a:p>
            <a:r>
              <a:rPr lang="en-US" dirty="0"/>
              <a:t>It only provides warnings that are fact-based and actionable to the financially responsible person (FRP).  They must decide whether some suspicious activity is nefarious, whether an embezzlement is actually in progress.</a:t>
            </a:r>
          </a:p>
          <a:p>
            <a:endParaRPr lang="en-US" dirty="0"/>
          </a:p>
          <a:p>
            <a:r>
              <a:rPr lang="en-US" dirty="0"/>
              <a:t>:59</a:t>
            </a:r>
          </a:p>
        </p:txBody>
      </p:sp>
      <p:sp>
        <p:nvSpPr>
          <p:cNvPr id="4" name="Slide Number Placeholder 3"/>
          <p:cNvSpPr>
            <a:spLocks noGrp="1"/>
          </p:cNvSpPr>
          <p:nvPr>
            <p:ph type="sldNum" sz="quarter" idx="5"/>
          </p:nvPr>
        </p:nvSpPr>
        <p:spPr/>
        <p:txBody>
          <a:bodyPr/>
          <a:lstStyle/>
          <a:p>
            <a:fld id="{F36AEBEC-8D78-44B4-A09A-0DB020F46361}" type="slidenum">
              <a:rPr lang="en-US" smtClean="0"/>
              <a:t>5</a:t>
            </a:fld>
            <a:endParaRPr lang="en-US"/>
          </a:p>
        </p:txBody>
      </p:sp>
    </p:spTree>
    <p:extLst>
      <p:ext uri="{BB962C8B-B14F-4D97-AF65-F5344CB8AC3E}">
        <p14:creationId xmlns:p14="http://schemas.microsoft.com/office/powerpoint/2010/main" val="2680787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Slide, so we’re going to stay for about 3:40 minutes.</a:t>
            </a:r>
          </a:p>
          <a:p>
            <a:endParaRPr lang="en-US" dirty="0"/>
          </a:p>
          <a:p>
            <a:r>
              <a:rPr lang="en-US" dirty="0"/>
              <a:t>There’s a hidden confession in this nice happy-face picture. The hint is the little red box with “No daily click.” When we first deployed open-source NGAME, we thought that the FRP would find it entertaining simply to click a button on her office machine’s NGAME dashboard and see things happen on her screen. Her actual response was more like “Are you kidding?! I work often at home with four kids to manage and I can’t come in to push buttons on that NGAME computer—those daily clicks for training NGAME and occasional buttons to click for ‘fishy’ activity.” So that triggered a major redevelopment project, which was to turn NGAME (with its “entertaining dashboard”) to a fully autonomous, continuous monitoring engine. THAT’s the product. And THAT’s the GitHub repo you’ll need to clone. Here are seven bit-picture items to consider (When you go to the GitHub repo, you can download this PPT file, including the notes I’m following):</a:t>
            </a:r>
          </a:p>
          <a:p>
            <a:endParaRPr lang="en-US" dirty="0"/>
          </a:p>
          <a:p>
            <a:pPr marL="228600" indent="-228600">
              <a:buAutoNum type="arabicPeriod"/>
            </a:pPr>
            <a:r>
              <a:rPr lang="en-US" dirty="0"/>
              <a:t>A continuous monitoring system requires a dedicated computer: always-on, running NGAME continuously, </a:t>
            </a:r>
            <a:r>
              <a:rPr lang="en-US" dirty="0" err="1"/>
              <a:t>amd</a:t>
            </a:r>
            <a:r>
              <a:rPr lang="en-US" dirty="0"/>
              <a:t> with sufficient memory to host a local LLM. </a:t>
            </a:r>
          </a:p>
          <a:p>
            <a:pPr marL="228600" indent="-228600">
              <a:buAutoNum type="arabicPeriod"/>
            </a:pPr>
            <a:r>
              <a:rPr lang="en-US" dirty="0"/>
              <a:t>The preferred machine is a Geek-um mini PC with 16MB of memory and 1TB of storage. (I’m presenting right now with this amazing little 4 ½” x 4 ½” box.</a:t>
            </a:r>
          </a:p>
          <a:p>
            <a:pPr marL="228600" indent="-228600">
              <a:buAutoNum type="arabicPeriod"/>
            </a:pPr>
            <a:r>
              <a:rPr lang="en-US" dirty="0"/>
              <a:t>Because the LLM is local and because the mini PC operates with only 40 watts, NGAME incurs only a tiny “AI carbon debt.”</a:t>
            </a:r>
          </a:p>
          <a:p>
            <a:pPr marL="228600" indent="-228600">
              <a:buAutoNum type="arabicPeriod"/>
            </a:pPr>
            <a:r>
              <a:rPr lang="en-US" dirty="0"/>
              <a:t>Installation requires a system-savvy person—that’s the “Consultant” in the picture--who can navigate folders and do” PowerShell commands.</a:t>
            </a:r>
          </a:p>
          <a:p>
            <a:pPr marL="228600" indent="-228600">
              <a:buAutoNum type="arabicPeriod"/>
            </a:pPr>
            <a:r>
              <a:rPr lang="en-US" dirty="0"/>
              <a:t>The Installation Guide is a very detailed 32-page document, designed in cookbook-style: “do this, see that, next do this, if you don’t this, do that..” I’d almost bet that it is among the most thorough and carefully tested manuals on GitHub!</a:t>
            </a:r>
          </a:p>
          <a:p>
            <a:pPr marL="228600" indent="-228600">
              <a:buAutoNum type="arabicPeriod"/>
            </a:pPr>
            <a:r>
              <a:rPr lang="en-US" dirty="0"/>
              <a:t>The bookkeeper sees nothing. NGAME is not on her computer and does not access her computer. And she may not even be aware of NGAME at all.</a:t>
            </a:r>
          </a:p>
          <a:p>
            <a:pPr marL="228600" indent="-228600">
              <a:buAutoNum type="arabicPeriod"/>
            </a:pPr>
            <a:r>
              <a:rPr lang="en-US" dirty="0"/>
              <a:t>The total office activity is (1) the FRP’s iPhone tells her that something’s fishy in the books. (2) That prompts the FRP to look at the day’s NGAME “picture” and then (3) access the QuickBooks Audit Log. </a:t>
            </a:r>
          </a:p>
          <a:p>
            <a:pPr marL="228600" indent="-228600">
              <a:buAutoNum type="arabicPeriod"/>
            </a:pPr>
            <a:endParaRPr lang="en-US" dirty="0"/>
          </a:p>
          <a:p>
            <a:pPr marL="0" indent="0">
              <a:buNone/>
            </a:pPr>
            <a:r>
              <a:rPr lang="en-US" dirty="0"/>
              <a:t>I know I promised a “live demo” with its entertaining buttons </a:t>
            </a:r>
            <a:r>
              <a:rPr lang="en-US"/>
              <a:t>and dashboard </a:t>
            </a:r>
            <a:r>
              <a:rPr lang="en-US" dirty="0"/>
              <a:t>when I submitted for this conference months ago. but that was before NGAME-CM, so now a demo would be like watching paint dry. But </a:t>
            </a:r>
            <a:r>
              <a:rPr lang="en-US"/>
              <a:t>we will </a:t>
            </a:r>
            <a:r>
              <a:rPr lang="en-US" dirty="0"/>
              <a:t>look at warning screens here a little later.</a:t>
            </a:r>
          </a:p>
          <a:p>
            <a:endParaRPr lang="en-US" dirty="0"/>
          </a:p>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6</a:t>
            </a:fld>
            <a:endParaRPr lang="en-US"/>
          </a:p>
        </p:txBody>
      </p:sp>
    </p:spTree>
    <p:extLst>
      <p:ext uri="{BB962C8B-B14F-4D97-AF65-F5344CB8AC3E}">
        <p14:creationId xmlns:p14="http://schemas.microsoft.com/office/powerpoint/2010/main" val="2419665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focus of NGAME, the “Fraud Tree” published by the Association of Certified Fraud Examiners. The sub-class we’re interested in is “Misappropriation of Assets,” the type of fraud in all three of the cases we saw earlier. And we’re primarily focused on the “Cash” sub-category. </a:t>
            </a:r>
          </a:p>
          <a:p>
            <a:endParaRPr lang="en-US" dirty="0"/>
          </a:p>
          <a:p>
            <a:r>
              <a:rPr lang="en-US" dirty="0"/>
              <a:t>Our approach to manipulating the AFCE Fraud Tree was to render (once-and-for-all) the Misappropriation sub-tree (or “taxonomy,” as we call it) as an OWL ontology. In doing so, we’re not just trying to look smart or cute. Instead we found that OWL—as a World Wide Web Consortium (W3C) standard—further enforces a standards-based architecture for NGAME. But we get a lot more.</a:t>
            </a:r>
          </a:p>
          <a:p>
            <a:endParaRPr lang="en-US" dirty="0"/>
          </a:p>
          <a:p>
            <a:r>
              <a:rPr lang="en-US" dirty="0"/>
              <a:t>:60</a:t>
            </a:r>
          </a:p>
        </p:txBody>
      </p:sp>
      <p:sp>
        <p:nvSpPr>
          <p:cNvPr id="4" name="Slide Number Placeholder 3"/>
          <p:cNvSpPr>
            <a:spLocks noGrp="1"/>
          </p:cNvSpPr>
          <p:nvPr>
            <p:ph type="sldNum" sz="quarter" idx="5"/>
          </p:nvPr>
        </p:nvSpPr>
        <p:spPr/>
        <p:txBody>
          <a:bodyPr/>
          <a:lstStyle/>
          <a:p>
            <a:fld id="{F36AEBEC-8D78-44B4-A09A-0DB020F46361}" type="slidenum">
              <a:rPr lang="en-US" smtClean="0"/>
              <a:t>7</a:t>
            </a:fld>
            <a:endParaRPr lang="en-US"/>
          </a:p>
        </p:txBody>
      </p:sp>
    </p:spTree>
    <p:extLst>
      <p:ext uri="{BB962C8B-B14F-4D97-AF65-F5344CB8AC3E}">
        <p14:creationId xmlns:p14="http://schemas.microsoft.com/office/powerpoint/2010/main" val="2131087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NGAME reads all the detail of all the day’s transactions, it must retain all of that detail in as compact a form as possible as the agents pass around the transactions. (This is like the lowly “intermediate representations” in earlier software architectures.) Thanks to OWL renditions of NGAME’s key data files, none of that detail is lost. So, thanks to OWL, it is fair to claim a standards-based and consistent “Lossless Semantics” in transfers across all of those files. </a:t>
            </a:r>
          </a:p>
        </p:txBody>
      </p:sp>
      <p:sp>
        <p:nvSpPr>
          <p:cNvPr id="4" name="Slide Number Placeholder 3"/>
          <p:cNvSpPr>
            <a:spLocks noGrp="1"/>
          </p:cNvSpPr>
          <p:nvPr>
            <p:ph type="sldNum" sz="quarter" idx="5"/>
          </p:nvPr>
        </p:nvSpPr>
        <p:spPr/>
        <p:txBody>
          <a:bodyPr/>
          <a:lstStyle/>
          <a:p>
            <a:fld id="{F36AEBEC-8D78-44B4-A09A-0DB020F46361}" type="slidenum">
              <a:rPr lang="en-US" smtClean="0"/>
              <a:t>8</a:t>
            </a:fld>
            <a:endParaRPr lang="en-US"/>
          </a:p>
        </p:txBody>
      </p:sp>
    </p:spTree>
    <p:extLst>
      <p:ext uri="{BB962C8B-B14F-4D97-AF65-F5344CB8AC3E}">
        <p14:creationId xmlns:p14="http://schemas.microsoft.com/office/powerpoint/2010/main" val="3894145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Protégé visualization of part of the Asset </a:t>
            </a:r>
            <a:r>
              <a:rPr lang="en-US" dirty="0" err="1"/>
              <a:t>Missappropriation</a:t>
            </a:r>
            <a:r>
              <a:rPr lang="en-US" dirty="0"/>
              <a:t> taxonomy.</a:t>
            </a:r>
          </a:p>
          <a:p>
            <a:endParaRPr lang="en-US" dirty="0"/>
          </a:p>
          <a:p>
            <a:r>
              <a:rPr lang="en-US" dirty="0"/>
              <a:t>As we mentioned before, you don’t need Protégé to run NGRAM. But as a conscientious and curious data scientist it is almost imperative for you to have this tool to visually inspect the various OWL (.</a:t>
            </a:r>
            <a:r>
              <a:rPr lang="en-US" dirty="0" err="1"/>
              <a:t>ttl</a:t>
            </a:r>
            <a:r>
              <a:rPr lang="en-US" dirty="0"/>
              <a:t>) data. </a:t>
            </a:r>
          </a:p>
        </p:txBody>
      </p:sp>
      <p:sp>
        <p:nvSpPr>
          <p:cNvPr id="4" name="Slide Number Placeholder 3"/>
          <p:cNvSpPr>
            <a:spLocks noGrp="1"/>
          </p:cNvSpPr>
          <p:nvPr>
            <p:ph type="sldNum" sz="quarter" idx="5"/>
          </p:nvPr>
        </p:nvSpPr>
        <p:spPr/>
        <p:txBody>
          <a:bodyPr/>
          <a:lstStyle/>
          <a:p>
            <a:fld id="{F36AEBEC-8D78-44B4-A09A-0DB020F46361}" type="slidenum">
              <a:rPr lang="en-US" smtClean="0"/>
              <a:t>9</a:t>
            </a:fld>
            <a:endParaRPr lang="en-US"/>
          </a:p>
        </p:txBody>
      </p:sp>
    </p:spTree>
    <p:extLst>
      <p:ext uri="{BB962C8B-B14F-4D97-AF65-F5344CB8AC3E}">
        <p14:creationId xmlns:p14="http://schemas.microsoft.com/office/powerpoint/2010/main" val="2143395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portion of the AFCE Misappropriation taxonomy, rendered as Resource Definition Framework (RDF). RDF, which is a mainstream representation of OWL, in turn, is a W3C standard. The actual file type you’ll find in the GitHub repo is “.</a:t>
            </a:r>
            <a:r>
              <a:rPr lang="en-US" dirty="0" err="1"/>
              <a:t>ttl</a:t>
            </a:r>
            <a:r>
              <a:rPr lang="en-US" dirty="0"/>
              <a:t>” (commonly called “turtle”)</a:t>
            </a:r>
          </a:p>
        </p:txBody>
      </p:sp>
      <p:sp>
        <p:nvSpPr>
          <p:cNvPr id="4" name="Slide Number Placeholder 3"/>
          <p:cNvSpPr>
            <a:spLocks noGrp="1"/>
          </p:cNvSpPr>
          <p:nvPr>
            <p:ph type="sldNum" sz="quarter" idx="5"/>
          </p:nvPr>
        </p:nvSpPr>
        <p:spPr/>
        <p:txBody>
          <a:bodyPr/>
          <a:lstStyle/>
          <a:p>
            <a:fld id="{F36AEBEC-8D78-44B4-A09A-0DB020F46361}" type="slidenum">
              <a:rPr lang="en-US" smtClean="0"/>
              <a:t>10</a:t>
            </a:fld>
            <a:endParaRPr lang="en-US"/>
          </a:p>
        </p:txBody>
      </p:sp>
    </p:spTree>
    <p:extLst>
      <p:ext uri="{BB962C8B-B14F-4D97-AF65-F5344CB8AC3E}">
        <p14:creationId xmlns:p14="http://schemas.microsoft.com/office/powerpoint/2010/main" val="2868669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paid to re-register my business with the State of Washington, I incurred an expense, which was recorded in my QuickBooks Online ledger. Note that the tooltip or explanation box from the Expense transaction contains all of the details associated with that payment.</a:t>
            </a:r>
          </a:p>
        </p:txBody>
      </p:sp>
      <p:sp>
        <p:nvSpPr>
          <p:cNvPr id="4" name="Slide Number Placeholder 3"/>
          <p:cNvSpPr>
            <a:spLocks noGrp="1"/>
          </p:cNvSpPr>
          <p:nvPr>
            <p:ph type="sldNum" sz="quarter" idx="5"/>
          </p:nvPr>
        </p:nvSpPr>
        <p:spPr/>
        <p:txBody>
          <a:bodyPr/>
          <a:lstStyle/>
          <a:p>
            <a:fld id="{F36AEBEC-8D78-44B4-A09A-0DB020F46361}" type="slidenum">
              <a:rPr lang="en-US" smtClean="0"/>
              <a:t>11</a:t>
            </a:fld>
            <a:endParaRPr lang="en-US"/>
          </a:p>
        </p:txBody>
      </p:sp>
    </p:spTree>
    <p:extLst>
      <p:ext uri="{BB962C8B-B14F-4D97-AF65-F5344CB8AC3E}">
        <p14:creationId xmlns:p14="http://schemas.microsoft.com/office/powerpoint/2010/main" val="334207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Accordingly, here’s a portion of the actual .</a:t>
            </a:r>
            <a:r>
              <a:rPr lang="en-US" dirty="0" err="1"/>
              <a:t>ttl</a:t>
            </a:r>
            <a:r>
              <a:rPr lang="en-US" dirty="0"/>
              <a:t> file’s representation of the payment transaction. </a:t>
            </a:r>
          </a:p>
          <a:p>
            <a:endParaRPr lang="en-US" dirty="0"/>
          </a:p>
          <a:p>
            <a:r>
              <a:rPr lang="en-US" dirty="0"/>
              <a:t>As a mental placeholder, keep in mind that NGAME each day creates a .</a:t>
            </a:r>
            <a:r>
              <a:rPr lang="en-US" dirty="0" err="1"/>
              <a:t>ttl</a:t>
            </a:r>
            <a:r>
              <a:rPr lang="en-US" dirty="0"/>
              <a:t> file that records all of the day’s transactions for all of the transaction types in use that day. “Individuals” are the outermost nodes of the Protégé wheel.</a:t>
            </a:r>
          </a:p>
        </p:txBody>
      </p:sp>
      <p:sp>
        <p:nvSpPr>
          <p:cNvPr id="4" name="Slide Number Placeholder 3"/>
          <p:cNvSpPr>
            <a:spLocks noGrp="1"/>
          </p:cNvSpPr>
          <p:nvPr>
            <p:ph type="sldNum" sz="quarter" idx="5"/>
          </p:nvPr>
        </p:nvSpPr>
        <p:spPr/>
        <p:txBody>
          <a:bodyPr/>
          <a:lstStyle/>
          <a:p>
            <a:fld id="{F36AEBEC-8D78-44B4-A09A-0DB020F46361}" type="slidenum">
              <a:rPr lang="en-US" smtClean="0"/>
              <a:t>12</a:t>
            </a:fld>
            <a:endParaRPr lang="en-US"/>
          </a:p>
        </p:txBody>
      </p:sp>
    </p:spTree>
    <p:extLst>
      <p:ext uri="{BB962C8B-B14F-4D97-AF65-F5344CB8AC3E}">
        <p14:creationId xmlns:p14="http://schemas.microsoft.com/office/powerpoint/2010/main" val="1673867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19</a:t>
            </a:fld>
            <a:endParaRPr lang="en-US"/>
          </a:p>
        </p:txBody>
      </p:sp>
    </p:spTree>
    <p:extLst>
      <p:ext uri="{BB962C8B-B14F-4D97-AF65-F5344CB8AC3E}">
        <p14:creationId xmlns:p14="http://schemas.microsoft.com/office/powerpoint/2010/main" val="1040485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21</a:t>
            </a:fld>
            <a:endParaRPr lang="en-US"/>
          </a:p>
        </p:txBody>
      </p:sp>
    </p:spTree>
    <p:extLst>
      <p:ext uri="{BB962C8B-B14F-4D97-AF65-F5344CB8AC3E}">
        <p14:creationId xmlns:p14="http://schemas.microsoft.com/office/powerpoint/2010/main" val="298104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23</a:t>
            </a:fld>
            <a:endParaRPr lang="en-US"/>
          </a:p>
        </p:txBody>
      </p:sp>
    </p:spTree>
    <p:extLst>
      <p:ext uri="{BB962C8B-B14F-4D97-AF65-F5344CB8AC3E}">
        <p14:creationId xmlns:p14="http://schemas.microsoft.com/office/powerpoint/2010/main" val="3848379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27</a:t>
            </a:fld>
            <a:endParaRPr lang="en-US"/>
          </a:p>
        </p:txBody>
      </p:sp>
    </p:spTree>
    <p:extLst>
      <p:ext uri="{BB962C8B-B14F-4D97-AF65-F5344CB8AC3E}">
        <p14:creationId xmlns:p14="http://schemas.microsoft.com/office/powerpoint/2010/main" val="3793430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28</a:t>
            </a:fld>
            <a:endParaRPr lang="en-US"/>
          </a:p>
        </p:txBody>
      </p:sp>
    </p:spTree>
    <p:extLst>
      <p:ext uri="{BB962C8B-B14F-4D97-AF65-F5344CB8AC3E}">
        <p14:creationId xmlns:p14="http://schemas.microsoft.com/office/powerpoint/2010/main" val="210825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Vendors stayed steady across those 30 days. Bills did not. Bills’ sigma, 0.0582, is about five times Vendors’ sigma, 0.0122, so the Bills score already swung widely from day to day while the Vendors score stayed close to its own </a:t>
            </a:r>
            <a:r>
              <a:rPr lang="en-US" dirty="0" err="1"/>
              <a:t>average.The</a:t>
            </a:r>
            <a:r>
              <a:rPr lang="en-US" dirty="0"/>
              <a:t> same size dip tonight is ordinary for Bills and unusual for Vendors. Vendors has to move only a little to look far off its history. Bills has to move much farther before the same warning is </a:t>
            </a:r>
            <a:r>
              <a:rPr lang="en-US" dirty="0" err="1"/>
              <a:t>warranted.s</a:t>
            </a:r>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29</a:t>
            </a:fld>
            <a:endParaRPr lang="en-US"/>
          </a:p>
        </p:txBody>
      </p:sp>
    </p:spTree>
    <p:extLst>
      <p:ext uri="{BB962C8B-B14F-4D97-AF65-F5344CB8AC3E}">
        <p14:creationId xmlns:p14="http://schemas.microsoft.com/office/powerpoint/2010/main" val="2994616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AEBEC-8D78-44B4-A09A-0DB020F46361}" type="slidenum">
              <a:rPr lang="en-US" smtClean="0"/>
              <a:t>30</a:t>
            </a:fld>
            <a:endParaRPr lang="en-US"/>
          </a:p>
        </p:txBody>
      </p:sp>
    </p:spTree>
    <p:extLst>
      <p:ext uri="{BB962C8B-B14F-4D97-AF65-F5344CB8AC3E}">
        <p14:creationId xmlns:p14="http://schemas.microsoft.com/office/powerpoint/2010/main" val="1050247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C843-43BA-E925-D862-583E6D54B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C2A7F9-E3EF-89A4-D5F3-580BF44AD4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BC6213-C066-8CB4-16C3-6F038F7630BA}"/>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C88AA682-4D7A-26DC-1D2D-57A9CA2356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01ED5C-EADF-C86E-36A0-1C7817B488BF}"/>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50632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891D-CABB-40A7-C01D-A8B9E1AD05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6DF09D-2ACF-1F67-B9DA-052E7A55F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F6C15-81E7-629E-5F08-9B7EB68CCF64}"/>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88FDE05D-29E5-3F41-135D-2B29B0D29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58E37-74D9-3504-B8DE-4C916BB9DC25}"/>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202950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68B8-8556-966C-E947-D0CD29BEB6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1135FC-110E-37B7-633A-9BFC00712D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14B315-AC3E-F4EA-F81C-C3DC697F736C}"/>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BCB97B92-ECAD-EBF3-729B-E70595C44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828A4-D9CB-E249-E287-F61C0ECD8F3D}"/>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55677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C42F-92F8-3C3F-3295-F3A7F2D68A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1BBB04-ECF3-5436-4A49-52553157ED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11C61E-1E9C-201F-2487-1961B732EE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A5318A-9CF8-1ED3-9683-0803A1DC6057}"/>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6" name="Footer Placeholder 5">
            <a:extLst>
              <a:ext uri="{FF2B5EF4-FFF2-40B4-BE49-F238E27FC236}">
                <a16:creationId xmlns:a16="http://schemas.microsoft.com/office/drawing/2014/main" id="{CC4FCC3E-6E51-AF03-1668-3F5F1EA9F9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7C4A6-DD88-BC79-AEE4-AD6226028B43}"/>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3738546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694D6-6673-AED8-DF0B-1E8CC91118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528D93-87E0-A428-5A63-5577E5400A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F607FE-03EA-AC2D-3282-6551D8B4B3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4D53FF-A379-AC31-2298-887B00C8AF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FB492E-8D42-4BA0-537A-82BE67622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EAC6EA-874C-3B51-A835-7427B1FDA15C}"/>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8" name="Footer Placeholder 7">
            <a:extLst>
              <a:ext uri="{FF2B5EF4-FFF2-40B4-BE49-F238E27FC236}">
                <a16:creationId xmlns:a16="http://schemas.microsoft.com/office/drawing/2014/main" id="{2B26ED0A-E6DD-DA4E-A12B-F8F549676B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32806D-0341-9A8F-20B0-BAEAD888EF6D}"/>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1625115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065ED-2BAA-85F5-C712-9E5C09A989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54814D-489A-CA1E-F07E-B063C16A8FFF}"/>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4" name="Footer Placeholder 3">
            <a:extLst>
              <a:ext uri="{FF2B5EF4-FFF2-40B4-BE49-F238E27FC236}">
                <a16:creationId xmlns:a16="http://schemas.microsoft.com/office/drawing/2014/main" id="{345FAECD-CB5E-9011-F2EE-33CB9D3D9B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D78E5F-1230-EBD5-CE14-8D2F62DA002D}"/>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208343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04ADE9-1F86-5392-8A91-6807378A77B3}"/>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3" name="Footer Placeholder 2">
            <a:extLst>
              <a:ext uri="{FF2B5EF4-FFF2-40B4-BE49-F238E27FC236}">
                <a16:creationId xmlns:a16="http://schemas.microsoft.com/office/drawing/2014/main" id="{CD573E70-FF6C-2A95-C860-6550966FAE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E228EA-170E-8477-9A00-2E35279EC8F0}"/>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299942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DC301-2AE2-322D-A5FA-4A7F14DF2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44903-724C-2B8F-C558-0F4768F917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8552A4-CD99-4A5F-734D-62882C86B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F7393-54B8-D99F-7863-375389047A46}"/>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6" name="Footer Placeholder 5">
            <a:extLst>
              <a:ext uri="{FF2B5EF4-FFF2-40B4-BE49-F238E27FC236}">
                <a16:creationId xmlns:a16="http://schemas.microsoft.com/office/drawing/2014/main" id="{90F44278-CFC0-0C8A-9296-BB786F5D19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879BB-A3E6-F5AA-2570-261B0E44D714}"/>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9836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E5C4-B8C5-AD7C-360C-BEF7419C5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17778A-423A-D18B-8B31-2CD2F26982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D4B62E-599F-348E-A81F-C01F981F1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8C53DE-A9FD-8F6E-6EDB-403D164F895B}"/>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6" name="Footer Placeholder 5">
            <a:extLst>
              <a:ext uri="{FF2B5EF4-FFF2-40B4-BE49-F238E27FC236}">
                <a16:creationId xmlns:a16="http://schemas.microsoft.com/office/drawing/2014/main" id="{ABF95873-22A3-28B6-2639-62070A12B2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FA6B3A-392B-16E0-2E5A-6A130AE27FBF}"/>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2311564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FDEA0-BCCC-4924-DA3A-59B5291166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8BB30F-8681-6694-CF24-ECB2F318C5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5D3054-4BBD-A9DE-8001-C5D9DE8DF45D}"/>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FD093928-FCEE-8D7A-7209-4B4C88088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5B0AE2-E169-A5A9-11F6-DBDF9819253A}"/>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3116377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68FDBB-2798-AA9D-A398-28B143D593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5A2E3-A534-E75C-31AA-C55186B98C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AABCF-D422-BD18-F485-335F97721D90}"/>
              </a:ext>
            </a:extLst>
          </p:cNvPr>
          <p:cNvSpPr>
            <a:spLocks noGrp="1"/>
          </p:cNvSpPr>
          <p:nvPr>
            <p:ph type="dt" sz="half" idx="10"/>
          </p:nvPr>
        </p:nvSpPr>
        <p:spPr/>
        <p:txBody>
          <a:body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AB4662E7-E9BE-23FE-3D6D-5747E9867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ED7E7-BAC6-BC1D-B7FF-EFD196F4A9D2}"/>
              </a:ext>
            </a:extLst>
          </p:cNvPr>
          <p:cNvSpPr>
            <a:spLocks noGrp="1"/>
          </p:cNvSpPr>
          <p:nvPr>
            <p:ph type="sldNum" sz="quarter" idx="12"/>
          </p:nvPr>
        </p:nvSpPr>
        <p:spPr/>
        <p:txBody>
          <a:bodyPr/>
          <a:lstStyle/>
          <a:p>
            <a:fld id="{E13BFBAD-96F4-4D52-A3A5-E0177FF9BBEF}" type="slidenum">
              <a:rPr lang="en-US" smtClean="0"/>
              <a:t>‹#›</a:t>
            </a:fld>
            <a:endParaRPr lang="en-US"/>
          </a:p>
        </p:txBody>
      </p:sp>
    </p:spTree>
    <p:extLst>
      <p:ext uri="{BB962C8B-B14F-4D97-AF65-F5344CB8AC3E}">
        <p14:creationId xmlns:p14="http://schemas.microsoft.com/office/powerpoint/2010/main" val="661068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62972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97625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28398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235948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42061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675626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82471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29408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26103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297531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42111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A8C53E-7F07-60C8-5BD6-56633DC1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DB883D-1BBC-F554-ACFC-0FDBE5D54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4E08D-EC08-2E05-5D2A-BEECFFFBA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81D0E4-EDCC-4F18-BA83-39A3B33D4C14}" type="datetimeFigureOut">
              <a:rPr lang="en-US" smtClean="0"/>
              <a:t>10/26/2026</a:t>
            </a:fld>
            <a:endParaRPr lang="en-US"/>
          </a:p>
        </p:txBody>
      </p:sp>
      <p:sp>
        <p:nvSpPr>
          <p:cNvPr id="5" name="Footer Placeholder 4">
            <a:extLst>
              <a:ext uri="{FF2B5EF4-FFF2-40B4-BE49-F238E27FC236}">
                <a16:creationId xmlns:a16="http://schemas.microsoft.com/office/drawing/2014/main" id="{2B9870BC-CF22-8194-896C-CCAB5BD79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0231D7-FE47-CC3B-89EE-B6C2044E14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3BFBAD-96F4-4D52-A3A5-E0177FF9BBEF}" type="slidenum">
              <a:rPr lang="en-US" smtClean="0"/>
              <a:t>‹#›</a:t>
            </a:fld>
            <a:endParaRPr lang="en-US"/>
          </a:p>
        </p:txBody>
      </p:sp>
    </p:spTree>
    <p:extLst>
      <p:ext uri="{BB962C8B-B14F-4D97-AF65-F5344CB8AC3E}">
        <p14:creationId xmlns:p14="http://schemas.microsoft.com/office/powerpoint/2010/main" val="3165510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34317369"/>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Audithentic.ai"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www.youtube.com/watch?v=Lva98wkdaU4&amp;t=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forensicspot.com/topics/forensic-accounting/acfe-occupational-fraud-taxonomy" TargetMode="External"/><Relationship Id="rId5" Type="http://schemas.openxmlformats.org/officeDocument/2006/relationships/hyperlink" Target="https://www.slideshare.net/slideshow/acfe-fraud-tree-accounting/76858731" TargetMode="External"/><Relationship Id="rId4" Type="http://schemas.openxmlformats.org/officeDocument/2006/relationships/hyperlink" Target="https://www.linkedin.com/posts/shashini-wijethunga-1aa178256_what-is-the-fraud-tree-occupational-activity-7353464795259392000-IO4z"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protege.stanford.edu/softwar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tmp"/></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mailto:RonTurnersBox@gmail.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audithentic.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pic>
        <p:nvPicPr>
          <p:cNvPr id="167" name="Google Shape;167;p30" title="west2025.png"/>
          <p:cNvPicPr preferRelativeResize="0"/>
          <p:nvPr/>
        </p:nvPicPr>
        <p:blipFill>
          <a:blip r:embed="rId4">
            <a:alphaModFix/>
          </a:blip>
          <a:stretch>
            <a:fillRect/>
          </a:stretch>
        </p:blipFill>
        <p:spPr>
          <a:xfrm>
            <a:off x="10131968" y="355400"/>
            <a:ext cx="1662265" cy="710800"/>
          </a:xfrm>
          <a:prstGeom prst="rect">
            <a:avLst/>
          </a:prstGeom>
          <a:noFill/>
          <a:ln>
            <a:noFill/>
          </a:ln>
        </p:spPr>
      </p:pic>
      <p:sp>
        <p:nvSpPr>
          <p:cNvPr id="4" name="TextBox 3">
            <a:extLst>
              <a:ext uri="{FF2B5EF4-FFF2-40B4-BE49-F238E27FC236}">
                <a16:creationId xmlns:a16="http://schemas.microsoft.com/office/drawing/2014/main" id="{EC359FB1-E9D9-55F7-B7DA-D9A9D141CBA4}"/>
              </a:ext>
            </a:extLst>
          </p:cNvPr>
          <p:cNvSpPr txBox="1"/>
          <p:nvPr/>
        </p:nvSpPr>
        <p:spPr>
          <a:xfrm>
            <a:off x="4378070" y="1312069"/>
            <a:ext cx="3840480" cy="1446550"/>
          </a:xfrm>
          <a:prstGeom prst="rect">
            <a:avLst/>
          </a:prstGeom>
          <a:noFill/>
        </p:spPr>
        <p:txBody>
          <a:bodyPr wrap="square" rtlCol="0">
            <a:spAutoFit/>
          </a:bodyPr>
          <a:lstStyle/>
          <a:p>
            <a:r>
              <a:rPr lang="en-US" sz="4000" b="1" dirty="0">
                <a:solidFill>
                  <a:schemeClr val="bg1"/>
                </a:solidFill>
                <a:latin typeface="Calibri" panose="020F0502020204030204" pitchFamily="34" charset="0"/>
                <a:ea typeface="Calibri" panose="020F0502020204030204" pitchFamily="34" charset="0"/>
                <a:cs typeface="Calibri" panose="020F0502020204030204" pitchFamily="34" charset="0"/>
              </a:rPr>
              <a:t>Ron Turner</a:t>
            </a:r>
          </a:p>
          <a:p>
            <a:r>
              <a:rPr lang="en-US" sz="2400" dirty="0">
                <a:solidFill>
                  <a:schemeClr val="bg1"/>
                </a:solidFill>
              </a:rPr>
              <a:t>Founder &amp; CEO</a:t>
            </a:r>
          </a:p>
          <a:p>
            <a:r>
              <a:rPr lang="en-US" sz="2400" dirty="0">
                <a:solidFill>
                  <a:schemeClr val="bg1"/>
                </a:solidFill>
              </a:rPr>
              <a:t>Audithentic.ai</a:t>
            </a:r>
          </a:p>
        </p:txBody>
      </p:sp>
      <p:sp>
        <p:nvSpPr>
          <p:cNvPr id="5" name="AutoShape 2">
            <a:extLst>
              <a:ext uri="{FF2B5EF4-FFF2-40B4-BE49-F238E27FC236}">
                <a16:creationId xmlns:a16="http://schemas.microsoft.com/office/drawing/2014/main" id="{BCA6C096-DF7B-587C-8179-1514B76898FC}"/>
              </a:ext>
            </a:extLst>
          </p:cNvPr>
          <p:cNvSpPr>
            <a:spLocks noChangeAspect="1" noChangeArrowheads="1"/>
          </p:cNvSpPr>
          <p:nvPr/>
        </p:nvSpPr>
        <p:spPr bwMode="auto">
          <a:xfrm>
            <a:off x="5943600" y="3276600"/>
            <a:ext cx="3589020" cy="35890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9AC2F435-4ACA-2B8F-1A04-0E67090523FA}"/>
              </a:ext>
            </a:extLst>
          </p:cNvPr>
          <p:cNvSpPr>
            <a:spLocks noChangeAspect="1" noChangeArrowheads="1"/>
          </p:cNvSpPr>
          <p:nvPr/>
        </p:nvSpPr>
        <p:spPr bwMode="auto">
          <a:xfrm>
            <a:off x="5943600" y="3276600"/>
            <a:ext cx="2023110" cy="20231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35F0CA81-462E-ADDB-5433-0F8B7BAC5D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294" y="1023510"/>
            <a:ext cx="1735109" cy="1735109"/>
          </a:xfrm>
          <a:prstGeom prst="rect">
            <a:avLst/>
          </a:prstGeom>
        </p:spPr>
      </p:pic>
      <p:sp>
        <p:nvSpPr>
          <p:cNvPr id="9" name="TextBox 8">
            <a:extLst>
              <a:ext uri="{FF2B5EF4-FFF2-40B4-BE49-F238E27FC236}">
                <a16:creationId xmlns:a16="http://schemas.microsoft.com/office/drawing/2014/main" id="{07913DEB-238F-353A-DC94-AD0D75E48FC4}"/>
              </a:ext>
            </a:extLst>
          </p:cNvPr>
          <p:cNvSpPr txBox="1"/>
          <p:nvPr/>
        </p:nvSpPr>
        <p:spPr>
          <a:xfrm>
            <a:off x="1137284" y="4099381"/>
            <a:ext cx="9241155" cy="1200329"/>
          </a:xfrm>
          <a:prstGeom prst="rect">
            <a:avLst/>
          </a:prstGeom>
          <a:noFill/>
        </p:spPr>
        <p:txBody>
          <a:bodyPr wrap="square" rtlCol="0">
            <a:spAutoFit/>
          </a:bodyPr>
          <a:lstStyle/>
          <a:p>
            <a:r>
              <a:rPr lang="en-US" sz="3600" b="1" dirty="0">
                <a:solidFill>
                  <a:schemeClr val="bg1"/>
                </a:solidFill>
              </a:rPr>
              <a:t>Churn Measurement in a Data Science Stack for Detecting Nefarious Activity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F571-8AF9-9BDC-0430-F2F34B1D8066}"/>
              </a:ext>
            </a:extLst>
          </p:cNvPr>
          <p:cNvSpPr>
            <a:spLocks noGrp="1"/>
          </p:cNvSpPr>
          <p:nvPr>
            <p:ph type="title"/>
          </p:nvPr>
        </p:nvSpPr>
        <p:spPr/>
        <p:txBody>
          <a:bodyPr>
            <a:noAutofit/>
          </a:bodyPr>
          <a:lstStyle/>
          <a:p>
            <a:pPr algn="ctr"/>
            <a:r>
              <a:rPr lang="en-US" sz="4400" b="1" dirty="0">
                <a:solidFill>
                  <a:srgbClr val="800000"/>
                </a:solidFill>
              </a:rPr>
              <a:t>Road Map: Outcomes and Takeaways</a:t>
            </a:r>
          </a:p>
        </p:txBody>
      </p:sp>
      <p:sp>
        <p:nvSpPr>
          <p:cNvPr id="3" name="Text Placeholder 2">
            <a:extLst>
              <a:ext uri="{FF2B5EF4-FFF2-40B4-BE49-F238E27FC236}">
                <a16:creationId xmlns:a16="http://schemas.microsoft.com/office/drawing/2014/main" id="{AB0C604B-501E-FF47-4E00-D6177FF6413F}"/>
              </a:ext>
            </a:extLst>
          </p:cNvPr>
          <p:cNvSpPr>
            <a:spLocks noGrp="1"/>
          </p:cNvSpPr>
          <p:nvPr>
            <p:ph type="body" idx="1"/>
          </p:nvPr>
        </p:nvSpPr>
        <p:spPr>
          <a:xfrm>
            <a:off x="415600" y="1536633"/>
            <a:ext cx="11360800" cy="5044276"/>
          </a:xfrm>
        </p:spPr>
        <p:txBody>
          <a:bodyPr>
            <a:normAutofit fontScale="92500" lnSpcReduction="10000"/>
          </a:bodyPr>
          <a:lstStyle/>
          <a:p>
            <a:r>
              <a:rPr lang="en-US" sz="3200" dirty="0"/>
              <a:t>Scenario and current gaps</a:t>
            </a:r>
          </a:p>
          <a:p>
            <a:r>
              <a:rPr lang="en-US" sz="3200" dirty="0"/>
              <a:t>Open-source Next-Gen Accounting Monitoring Engine (NGAME™) overview</a:t>
            </a:r>
          </a:p>
          <a:p>
            <a:r>
              <a:rPr lang="en-US" sz="3200" dirty="0"/>
              <a:t>Architecture and Processes</a:t>
            </a:r>
          </a:p>
          <a:p>
            <a:r>
              <a:rPr lang="en-US" sz="3200" dirty="0"/>
              <a:t>Web Ontology Language (OWL) activity</a:t>
            </a:r>
          </a:p>
          <a:p>
            <a:r>
              <a:rPr lang="en-US" sz="3200" dirty="0"/>
              <a:t>Churn statistics for anomaly detection</a:t>
            </a:r>
          </a:p>
          <a:p>
            <a:r>
              <a:rPr lang="en-US" sz="3200" dirty="0"/>
              <a:t>Human-Computer Interface (HCI)</a:t>
            </a:r>
          </a:p>
          <a:p>
            <a:r>
              <a:rPr lang="en-US" sz="3200" dirty="0"/>
              <a:t>Training Matrix</a:t>
            </a:r>
          </a:p>
          <a:p>
            <a:r>
              <a:rPr lang="en-US" sz="3200" dirty="0"/>
              <a:t>Invitation: GitHub (cloned app, install and implementation guides, related artifacts)</a:t>
            </a:r>
          </a:p>
        </p:txBody>
      </p:sp>
    </p:spTree>
    <p:extLst>
      <p:ext uri="{BB962C8B-B14F-4D97-AF65-F5344CB8AC3E}">
        <p14:creationId xmlns:p14="http://schemas.microsoft.com/office/powerpoint/2010/main" val="2531775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D77DCB-D3C6-4D56-C18F-9E907D70D7A1}"/>
              </a:ext>
            </a:extLst>
          </p:cNvPr>
          <p:cNvPicPr>
            <a:picLocks noGrp="1" noChangeAspect="1"/>
          </p:cNvPicPr>
          <p:nvPr>
            <p:ph idx="1"/>
          </p:nvPr>
        </p:nvPicPr>
        <p:blipFill>
          <a:blip r:embed="rId3"/>
          <a:srcRect l="29549" t="15621" r="4337" b="29792"/>
          <a:stretch/>
        </p:blipFill>
        <p:spPr>
          <a:xfrm>
            <a:off x="403182" y="958297"/>
            <a:ext cx="5159418" cy="4288664"/>
          </a:xfrm>
        </p:spPr>
      </p:pic>
      <p:sp>
        <p:nvSpPr>
          <p:cNvPr id="8" name="TextBox 7">
            <a:extLst>
              <a:ext uri="{FF2B5EF4-FFF2-40B4-BE49-F238E27FC236}">
                <a16:creationId xmlns:a16="http://schemas.microsoft.com/office/drawing/2014/main" id="{15E9252A-334C-C668-8E0A-29BA71FE5520}"/>
              </a:ext>
            </a:extLst>
          </p:cNvPr>
          <p:cNvSpPr txBox="1"/>
          <p:nvPr/>
        </p:nvSpPr>
        <p:spPr>
          <a:xfrm>
            <a:off x="602349" y="447675"/>
            <a:ext cx="10094226" cy="769441"/>
          </a:xfrm>
          <a:prstGeom prst="rect">
            <a:avLst/>
          </a:prstGeom>
          <a:noFill/>
        </p:spPr>
        <p:txBody>
          <a:bodyPr wrap="square" rtlCol="0">
            <a:spAutoFit/>
          </a:bodyPr>
          <a:lstStyle/>
          <a:p>
            <a:pPr algn="ctr"/>
            <a:r>
              <a:rPr lang="en-US" sz="4400" b="1" dirty="0">
                <a:solidFill>
                  <a:schemeClr val="accent2">
                    <a:lumMod val="50000"/>
                  </a:schemeClr>
                </a:solidFill>
              </a:rPr>
              <a:t>Why does this keep happening?</a:t>
            </a:r>
          </a:p>
        </p:txBody>
      </p:sp>
      <p:sp>
        <p:nvSpPr>
          <p:cNvPr id="10" name="TextBox 9">
            <a:extLst>
              <a:ext uri="{FF2B5EF4-FFF2-40B4-BE49-F238E27FC236}">
                <a16:creationId xmlns:a16="http://schemas.microsoft.com/office/drawing/2014/main" id="{F64EDB97-9BCD-4C33-4EA7-E7C6E07715E2}"/>
              </a:ext>
            </a:extLst>
          </p:cNvPr>
          <p:cNvSpPr txBox="1"/>
          <p:nvPr/>
        </p:nvSpPr>
        <p:spPr>
          <a:xfrm>
            <a:off x="529342" y="5758974"/>
            <a:ext cx="6096000" cy="646331"/>
          </a:xfrm>
          <a:prstGeom prst="rect">
            <a:avLst/>
          </a:prstGeom>
          <a:noFill/>
        </p:spPr>
        <p:txBody>
          <a:bodyPr wrap="square">
            <a:spAutoFit/>
          </a:bodyPr>
          <a:lstStyle/>
          <a:p>
            <a:r>
              <a:rPr lang="en-US" b="1" dirty="0"/>
              <a:t>‘Wiped us out completely’: Trusted small-town clerk emptied </a:t>
            </a:r>
            <a:r>
              <a:rPr lang="en-US" b="1" dirty="0" err="1"/>
              <a:t>Metaline’s</a:t>
            </a:r>
            <a:r>
              <a:rPr lang="en-US" b="1" dirty="0"/>
              <a:t> bank account, cratered nonprofit</a:t>
            </a:r>
          </a:p>
        </p:txBody>
      </p:sp>
      <p:pic>
        <p:nvPicPr>
          <p:cNvPr id="12" name="Picture 11">
            <a:extLst>
              <a:ext uri="{FF2B5EF4-FFF2-40B4-BE49-F238E27FC236}">
                <a16:creationId xmlns:a16="http://schemas.microsoft.com/office/drawing/2014/main" id="{6263CD9D-3D9A-4C64-8E99-07127994E07A}"/>
              </a:ext>
            </a:extLst>
          </p:cNvPr>
          <p:cNvPicPr>
            <a:picLocks noChangeAspect="1"/>
          </p:cNvPicPr>
          <p:nvPr/>
        </p:nvPicPr>
        <p:blipFill>
          <a:blip r:embed="rId4"/>
          <a:srcRect l="8385" t="15972" r="11316" b="35139"/>
          <a:stretch/>
        </p:blipFill>
        <p:spPr>
          <a:xfrm>
            <a:off x="5695949" y="1449132"/>
            <a:ext cx="6363255" cy="3145878"/>
          </a:xfrm>
          <a:prstGeom prst="rect">
            <a:avLst/>
          </a:prstGeom>
        </p:spPr>
      </p:pic>
      <p:grpSp>
        <p:nvGrpSpPr>
          <p:cNvPr id="14" name="Group 13">
            <a:extLst>
              <a:ext uri="{FF2B5EF4-FFF2-40B4-BE49-F238E27FC236}">
                <a16:creationId xmlns:a16="http://schemas.microsoft.com/office/drawing/2014/main" id="{593BC71A-B2D8-0775-9E05-7CC6A93B724D}"/>
              </a:ext>
            </a:extLst>
          </p:cNvPr>
          <p:cNvGrpSpPr/>
          <p:nvPr/>
        </p:nvGrpSpPr>
        <p:grpSpPr>
          <a:xfrm>
            <a:off x="7277100" y="4457701"/>
            <a:ext cx="3933825" cy="1997152"/>
            <a:chOff x="6486525" y="4369989"/>
            <a:chExt cx="3876675" cy="2106273"/>
          </a:xfrm>
        </p:grpSpPr>
        <p:grpSp>
          <p:nvGrpSpPr>
            <p:cNvPr id="7" name="Group 6">
              <a:extLst>
                <a:ext uri="{FF2B5EF4-FFF2-40B4-BE49-F238E27FC236}">
                  <a16:creationId xmlns:a16="http://schemas.microsoft.com/office/drawing/2014/main" id="{35BAC83D-FC7C-E8A6-F883-0F6D38501F6F}"/>
                </a:ext>
              </a:extLst>
            </p:cNvPr>
            <p:cNvGrpSpPr/>
            <p:nvPr/>
          </p:nvGrpSpPr>
          <p:grpSpPr>
            <a:xfrm>
              <a:off x="6486525" y="4369989"/>
              <a:ext cx="2222777" cy="2106273"/>
              <a:chOff x="592824" y="1793738"/>
              <a:chExt cx="3406140" cy="3469082"/>
            </a:xfrm>
          </p:grpSpPr>
          <p:pic>
            <p:nvPicPr>
              <p:cNvPr id="4" name="Picture 3">
                <a:extLst>
                  <a:ext uri="{FF2B5EF4-FFF2-40B4-BE49-F238E27FC236}">
                    <a16:creationId xmlns:a16="http://schemas.microsoft.com/office/drawing/2014/main" id="{517E11C6-80E1-701D-7149-B3D3EF7F93FF}"/>
                  </a:ext>
                </a:extLst>
              </p:cNvPr>
              <p:cNvPicPr>
                <a:picLocks noChangeAspect="1"/>
              </p:cNvPicPr>
              <p:nvPr/>
            </p:nvPicPr>
            <p:blipFill>
              <a:blip r:embed="rId5">
                <a:extLst>
                  <a:ext uri="{28A0092B-C50C-407E-A947-70E740481C1C}">
                    <a14:useLocalDpi xmlns:a14="http://schemas.microsoft.com/office/drawing/2010/main" val="0"/>
                  </a:ext>
                </a:extLst>
              </a:blip>
              <a:srcRect t="-950"/>
              <a:stretch/>
            </p:blipFill>
            <p:spPr>
              <a:xfrm>
                <a:off x="592824" y="1793738"/>
                <a:ext cx="3406140" cy="3469082"/>
              </a:xfrm>
              <a:prstGeom prst="rect">
                <a:avLst/>
              </a:prstGeom>
            </p:spPr>
          </p:pic>
          <p:sp>
            <p:nvSpPr>
              <p:cNvPr id="6" name="Rectangle 5">
                <a:extLst>
                  <a:ext uri="{FF2B5EF4-FFF2-40B4-BE49-F238E27FC236}">
                    <a16:creationId xmlns:a16="http://schemas.microsoft.com/office/drawing/2014/main" id="{4D03598F-C57B-224F-373F-1755E5DF5B69}"/>
                  </a:ext>
                </a:extLst>
              </p:cNvPr>
              <p:cNvSpPr>
                <a:spLocks/>
              </p:cNvSpPr>
              <p:nvPr/>
            </p:nvSpPr>
            <p:spPr>
              <a:xfrm rot="19885790">
                <a:off x="2959691" y="2299685"/>
                <a:ext cx="399570" cy="1661654"/>
              </a:xfrm>
              <a:prstGeom prst="rect">
                <a:avLst/>
              </a:prstGeom>
              <a:noFill/>
              <a:ln w="539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3043AF7-FA6F-D5A9-FADE-DD0CB0BA6A14}"/>
                </a:ext>
              </a:extLst>
            </p:cNvPr>
            <p:cNvSpPr/>
            <p:nvPr/>
          </p:nvSpPr>
          <p:spPr>
            <a:xfrm>
              <a:off x="8709302" y="4848225"/>
              <a:ext cx="1653898" cy="1010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solidFill>
                    <a:schemeClr val="tx2">
                      <a:lumMod val="90000"/>
                      <a:lumOff val="10000"/>
                    </a:schemeClr>
                  </a:solidFill>
                </a:rPr>
                <a:t>+ Trust</a:t>
              </a:r>
            </a:p>
          </p:txBody>
        </p:sp>
      </p:grpSp>
    </p:spTree>
    <p:extLst>
      <p:ext uri="{BB962C8B-B14F-4D97-AF65-F5344CB8AC3E}">
        <p14:creationId xmlns:p14="http://schemas.microsoft.com/office/powerpoint/2010/main" val="428859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5221-38B8-716A-5702-D3DD3EEE14D6}"/>
              </a:ext>
            </a:extLst>
          </p:cNvPr>
          <p:cNvSpPr>
            <a:spLocks noGrp="1"/>
          </p:cNvSpPr>
          <p:nvPr>
            <p:ph type="title"/>
          </p:nvPr>
        </p:nvSpPr>
        <p:spPr>
          <a:xfrm>
            <a:off x="838200" y="143454"/>
            <a:ext cx="10515600" cy="632402"/>
          </a:xfrm>
        </p:spPr>
        <p:txBody>
          <a:bodyPr>
            <a:normAutofit fontScale="90000"/>
          </a:bodyPr>
          <a:lstStyle/>
          <a:p>
            <a:pPr algn="ctr"/>
            <a:r>
              <a:rPr lang="en-US" sz="4900" b="1" dirty="0">
                <a:solidFill>
                  <a:srgbClr val="800000"/>
                </a:solidFill>
              </a:rPr>
              <a:t>QBO</a:t>
            </a:r>
            <a:r>
              <a:rPr lang="en-US" b="1" dirty="0">
                <a:solidFill>
                  <a:srgbClr val="800000"/>
                </a:solidFill>
              </a:rPr>
              <a:t> Audit Log</a:t>
            </a:r>
          </a:p>
        </p:txBody>
      </p:sp>
      <p:pic>
        <p:nvPicPr>
          <p:cNvPr id="5" name="Content Placeholder 4">
            <a:extLst>
              <a:ext uri="{FF2B5EF4-FFF2-40B4-BE49-F238E27FC236}">
                <a16:creationId xmlns:a16="http://schemas.microsoft.com/office/drawing/2014/main" id="{199D24DB-F9E2-0C34-9A40-9DB3860640B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679" t="10909" r="1748" b="3065"/>
          <a:stretch/>
        </p:blipFill>
        <p:spPr>
          <a:xfrm>
            <a:off x="939316" y="775856"/>
            <a:ext cx="10313368" cy="5938690"/>
          </a:xfrm>
        </p:spPr>
      </p:pic>
    </p:spTree>
    <p:extLst>
      <p:ext uri="{BB962C8B-B14F-4D97-AF65-F5344CB8AC3E}">
        <p14:creationId xmlns:p14="http://schemas.microsoft.com/office/powerpoint/2010/main" val="743340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C148DCA-28F3-0BB6-EEDB-B0112320D0B8}"/>
              </a:ext>
            </a:extLst>
          </p:cNvPr>
          <p:cNvSpPr txBox="1"/>
          <p:nvPr/>
        </p:nvSpPr>
        <p:spPr>
          <a:xfrm>
            <a:off x="7610475" y="444331"/>
            <a:ext cx="4248151" cy="5816977"/>
          </a:xfrm>
          <a:prstGeom prst="rect">
            <a:avLst/>
          </a:prstGeom>
          <a:noFill/>
        </p:spPr>
        <p:txBody>
          <a:bodyPr wrap="square" rtlCol="0">
            <a:spAutoFit/>
          </a:bodyPr>
          <a:lstStyle/>
          <a:p>
            <a:r>
              <a:rPr lang="en-US" sz="2800" b="1" dirty="0"/>
              <a:t>Respectfully enhancing the Chain of Trust in small organizations:</a:t>
            </a:r>
          </a:p>
          <a:p>
            <a:endParaRPr lang="en-US" dirty="0"/>
          </a:p>
          <a:p>
            <a:r>
              <a:rPr lang="en-US" dirty="0"/>
              <a:t>“NGAME-CM is strictly a surveillance engine that monitors transactions, detecting suspicious transaction activity and issuing warnings along with their levels of severity. It does not see every save nor does it identify the user. It does not read the QuickBooks Audit Log but prompts the FRP with actionable information so as prevent “warning fatigue.”</a:t>
            </a:r>
          </a:p>
          <a:p>
            <a:endParaRPr lang="en-US" dirty="0"/>
          </a:p>
          <a:p>
            <a:r>
              <a:rPr lang="en-US" dirty="0"/>
              <a:t>-- From “Description of NGAME-CM” in </a:t>
            </a:r>
            <a:r>
              <a:rPr lang="en-US" dirty="0">
                <a:hlinkClick r:id="rId3" action="ppaction://hlinkfile"/>
              </a:rPr>
              <a:t>Audithentic.ai</a:t>
            </a:r>
            <a:r>
              <a:rPr lang="en-US" dirty="0"/>
              <a:t> web page</a:t>
            </a:r>
          </a:p>
          <a:p>
            <a:endParaRPr lang="en-US" dirty="0"/>
          </a:p>
          <a:p>
            <a:endParaRPr lang="en-US" dirty="0"/>
          </a:p>
        </p:txBody>
      </p:sp>
      <p:pic>
        <p:nvPicPr>
          <p:cNvPr id="3" name="Picture 2">
            <a:extLst>
              <a:ext uri="{FF2B5EF4-FFF2-40B4-BE49-F238E27FC236}">
                <a16:creationId xmlns:a16="http://schemas.microsoft.com/office/drawing/2014/main" id="{CF85E600-B584-50AC-929C-58E524CEFA63}"/>
              </a:ext>
            </a:extLst>
          </p:cNvPr>
          <p:cNvPicPr>
            <a:picLocks noChangeAspect="1"/>
          </p:cNvPicPr>
          <p:nvPr/>
        </p:nvPicPr>
        <p:blipFill>
          <a:blip r:embed="rId4"/>
          <a:srcRect l="3115" t="8687" r="2078" b="1630"/>
          <a:stretch/>
        </p:blipFill>
        <p:spPr>
          <a:xfrm>
            <a:off x="554182" y="444331"/>
            <a:ext cx="6719454" cy="6150433"/>
          </a:xfrm>
          <a:prstGeom prst="rect">
            <a:avLst/>
          </a:prstGeom>
        </p:spPr>
      </p:pic>
    </p:spTree>
    <p:extLst>
      <p:ext uri="{BB962C8B-B14F-4D97-AF65-F5344CB8AC3E}">
        <p14:creationId xmlns:p14="http://schemas.microsoft.com/office/powerpoint/2010/main" val="453036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3B9A3-0D28-C9F6-D97F-D934671159C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A156938-43AE-B0D1-9C4F-333D9F0630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6269" y="189152"/>
            <a:ext cx="11519461" cy="6479696"/>
          </a:xfrm>
        </p:spPr>
      </p:pic>
      <p:sp>
        <p:nvSpPr>
          <p:cNvPr id="4" name="Rectangle 3">
            <a:extLst>
              <a:ext uri="{FF2B5EF4-FFF2-40B4-BE49-F238E27FC236}">
                <a16:creationId xmlns:a16="http://schemas.microsoft.com/office/drawing/2014/main" id="{77735FEC-7CEC-EE47-A555-A9D8D3EF74B2}"/>
              </a:ext>
            </a:extLst>
          </p:cNvPr>
          <p:cNvSpPr/>
          <p:nvPr/>
        </p:nvSpPr>
        <p:spPr>
          <a:xfrm>
            <a:off x="9839325" y="5467350"/>
            <a:ext cx="1295400" cy="3429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724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F5521C-773B-4BAD-24F6-66DE583FE2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4130" t="19336" r="23869" b="7114"/>
          <a:stretch/>
        </p:blipFill>
        <p:spPr>
          <a:xfrm>
            <a:off x="838199" y="204155"/>
            <a:ext cx="5983819" cy="6549069"/>
          </a:xfrm>
        </p:spPr>
      </p:pic>
      <p:sp>
        <p:nvSpPr>
          <p:cNvPr id="6" name="TextBox 5">
            <a:extLst>
              <a:ext uri="{FF2B5EF4-FFF2-40B4-BE49-F238E27FC236}">
                <a16:creationId xmlns:a16="http://schemas.microsoft.com/office/drawing/2014/main" id="{1BD0B628-110C-FBFF-1A85-B4EF84FFAEDF}"/>
              </a:ext>
            </a:extLst>
          </p:cNvPr>
          <p:cNvSpPr txBox="1"/>
          <p:nvPr/>
        </p:nvSpPr>
        <p:spPr>
          <a:xfrm>
            <a:off x="6822018" y="695325"/>
            <a:ext cx="4179358" cy="4714111"/>
          </a:xfrm>
          <a:prstGeom prst="rect">
            <a:avLst/>
          </a:prstGeom>
          <a:noFill/>
        </p:spPr>
        <p:txBody>
          <a:bodyPr wrap="square" rtlCol="0">
            <a:spAutoFit/>
          </a:bodyPr>
          <a:lstStyle/>
          <a:p>
            <a:pPr marL="0" marR="0">
              <a:spcBef>
                <a:spcPts val="1800"/>
              </a:spcBef>
              <a:spcAft>
                <a:spcPts val="900"/>
              </a:spcAft>
            </a:pPr>
            <a:r>
              <a:rPr lang="en-US" b="1" kern="100" dirty="0">
                <a:effectLst/>
                <a:latin typeface="Google Sans;Arial;sans-serif"/>
                <a:ea typeface="Songti SC"/>
                <a:cs typeface="Arial Unicode MS"/>
              </a:rPr>
              <a:t>Asset Misappropriation</a:t>
            </a:r>
            <a:endParaRPr lang="en-US" sz="1600" kern="100" dirty="0">
              <a:effectLst/>
              <a:latin typeface="Liberation Serif"/>
              <a:ea typeface="Songti SC"/>
              <a:cs typeface="Arial Unicode MS"/>
            </a:endParaRPr>
          </a:p>
          <a:p>
            <a:pPr marL="342900" marR="0" lvl="0" indent="-342900">
              <a:lnSpc>
                <a:spcPct val="115000"/>
              </a:lnSpc>
              <a:spcBef>
                <a:spcPts val="0"/>
              </a:spcBef>
              <a:spcAft>
                <a:spcPts val="0"/>
              </a:spcAft>
              <a:buFont typeface="Symbol" panose="05050102010706020507" pitchFamily="18" charset="2"/>
              <a:buChar char=""/>
              <a:tabLst>
                <a:tab pos="0" algn="l"/>
              </a:tabLst>
            </a:pPr>
            <a:r>
              <a:rPr lang="en-US" sz="1600" b="1" kern="100" dirty="0">
                <a:effectLst/>
                <a:latin typeface="Google Sans;Arial;sans-serif"/>
                <a:ea typeface="Songti SC"/>
                <a:cs typeface="Arial Unicode MS"/>
              </a:rPr>
              <a:t>Frequency:</a:t>
            </a:r>
            <a:r>
              <a:rPr lang="en-US" sz="1600" kern="100" dirty="0">
                <a:effectLst/>
                <a:latin typeface="Google Sans;Arial;sans-serif"/>
                <a:ea typeface="Songti SC"/>
                <a:cs typeface="Symbol" panose="05050102010706020507" pitchFamily="18" charset="2"/>
              </a:rPr>
              <a:t> Most common (accounts for roughly 86%–89% of all occupational fraud cases). [</a:t>
            </a:r>
            <a:r>
              <a:rPr lang="en-US" sz="1600" u="sng" kern="100" dirty="0">
                <a:solidFill>
                  <a:srgbClr val="000080"/>
                </a:solidFill>
                <a:effectLst/>
                <a:latin typeface="Google Sans;Arial;sans-serif"/>
                <a:ea typeface="Songti SC"/>
                <a:cs typeface="Symbol" panose="05050102010706020507" pitchFamily="18" charset="2"/>
                <a:hlinkClick r:id="rId4"/>
              </a:rPr>
              <a:t>1</a:t>
            </a:r>
            <a:r>
              <a:rPr lang="en-US" sz="1600" kern="100" dirty="0">
                <a:effectLst/>
                <a:latin typeface="Google Sans;Arial;sans-serif"/>
                <a:ea typeface="Songti SC"/>
                <a:cs typeface="Symbol" panose="05050102010706020507" pitchFamily="18" charset="2"/>
              </a:rPr>
              <a:t>, </a:t>
            </a:r>
            <a:r>
              <a:rPr lang="en-US" sz="1600" u="sng" kern="100" dirty="0">
                <a:solidFill>
                  <a:srgbClr val="000080"/>
                </a:solidFill>
                <a:effectLst/>
                <a:latin typeface="Google Sans;Arial;sans-serif"/>
                <a:ea typeface="Songti SC"/>
                <a:cs typeface="Symbol" panose="05050102010706020507" pitchFamily="18" charset="2"/>
                <a:hlinkClick r:id="rId5"/>
              </a:rPr>
              <a:t>2</a:t>
            </a:r>
            <a:r>
              <a:rPr lang="en-US" sz="1600" kern="100" dirty="0">
                <a:effectLst/>
                <a:latin typeface="Google Sans;Arial;sans-serif"/>
                <a:ea typeface="Songti SC"/>
                <a:cs typeface="Symbol" panose="05050102010706020507" pitchFamily="18" charset="2"/>
              </a:rPr>
              <a:t>, </a:t>
            </a:r>
            <a:r>
              <a:rPr lang="en-US" sz="1600" u="sng" kern="100" dirty="0">
                <a:solidFill>
                  <a:srgbClr val="000080"/>
                </a:solidFill>
                <a:effectLst/>
                <a:latin typeface="Google Sans;Arial;sans-serif"/>
                <a:ea typeface="Songti SC"/>
                <a:cs typeface="Symbol" panose="05050102010706020507" pitchFamily="18" charset="2"/>
                <a:hlinkClick r:id="rId6"/>
              </a:rPr>
              <a:t>3</a:t>
            </a:r>
            <a:r>
              <a:rPr lang="en-US" sz="1600" kern="100" dirty="0">
                <a:effectLst/>
                <a:latin typeface="Google Sans;Arial;sans-serif"/>
                <a:ea typeface="Songti SC"/>
                <a:cs typeface="Symbol" panose="05050102010706020507" pitchFamily="18" charset="2"/>
              </a:rPr>
              <a:t>]</a:t>
            </a:r>
            <a:endParaRPr lang="en-US" sz="1600" kern="100" dirty="0">
              <a:effectLst/>
              <a:latin typeface="Liberation Serif"/>
              <a:ea typeface="Songti SC"/>
              <a:cs typeface="Symbol" panose="05050102010706020507" pitchFamily="18" charset="2"/>
            </a:endParaRPr>
          </a:p>
          <a:p>
            <a:pPr marL="342900" marR="0" lvl="0" indent="-342900">
              <a:lnSpc>
                <a:spcPct val="115000"/>
              </a:lnSpc>
              <a:spcBef>
                <a:spcPts val="0"/>
              </a:spcBef>
              <a:spcAft>
                <a:spcPts val="0"/>
              </a:spcAft>
              <a:buFont typeface="Symbol" panose="05050102010706020507" pitchFamily="18" charset="2"/>
              <a:buChar char=""/>
              <a:tabLst>
                <a:tab pos="0" algn="l"/>
              </a:tabLst>
            </a:pPr>
            <a:r>
              <a:rPr lang="en-US" sz="1600" b="1" kern="100" dirty="0">
                <a:effectLst/>
                <a:latin typeface="Google Sans;Arial;sans-serif"/>
                <a:ea typeface="Songti SC"/>
                <a:cs typeface="Arial Unicode MS"/>
              </a:rPr>
              <a:t>Definition:</a:t>
            </a:r>
            <a:r>
              <a:rPr lang="en-US" sz="1600" kern="100" dirty="0">
                <a:effectLst/>
                <a:latin typeface="Google Sans;Arial;sans-serif"/>
                <a:ea typeface="Songti SC"/>
                <a:cs typeface="Symbol" panose="05050102010706020507" pitchFamily="18" charset="2"/>
              </a:rPr>
              <a:t> When an employee steals, misuses, or dissipates company resources. [</a:t>
            </a:r>
            <a:r>
              <a:rPr lang="en-US" sz="1600" u="sng" kern="100" dirty="0">
                <a:solidFill>
                  <a:srgbClr val="000080"/>
                </a:solidFill>
                <a:effectLst/>
                <a:latin typeface="Google Sans;Arial;sans-serif"/>
                <a:ea typeface="Songti SC"/>
                <a:cs typeface="Symbol" panose="05050102010706020507" pitchFamily="18" charset="2"/>
                <a:hlinkClick r:id="rId4"/>
              </a:rPr>
              <a:t>1</a:t>
            </a:r>
            <a:r>
              <a:rPr lang="en-US" sz="1600" kern="100" dirty="0">
                <a:effectLst/>
                <a:latin typeface="Google Sans;Arial;sans-serif"/>
                <a:ea typeface="Songti SC"/>
                <a:cs typeface="Symbol" panose="05050102010706020507" pitchFamily="18" charset="2"/>
              </a:rPr>
              <a:t>]</a:t>
            </a:r>
            <a:endParaRPr lang="en-US" sz="1600" kern="100" dirty="0">
              <a:effectLst/>
              <a:latin typeface="Liberation Serif"/>
              <a:ea typeface="Songti SC"/>
              <a:cs typeface="Symbol" panose="05050102010706020507" pitchFamily="18" charset="2"/>
            </a:endParaRPr>
          </a:p>
          <a:p>
            <a:pPr marL="342900" marR="0" lvl="0" indent="-342900">
              <a:lnSpc>
                <a:spcPct val="115000"/>
              </a:lnSpc>
              <a:spcBef>
                <a:spcPts val="0"/>
              </a:spcBef>
              <a:spcAft>
                <a:spcPts val="0"/>
              </a:spcAft>
              <a:buFont typeface="Symbol" panose="05050102010706020507" pitchFamily="18" charset="2"/>
              <a:buChar char=""/>
              <a:tabLst>
                <a:tab pos="0" algn="l"/>
              </a:tabLst>
            </a:pPr>
            <a:r>
              <a:rPr lang="en-US" sz="1600" b="1" kern="100" dirty="0">
                <a:effectLst/>
                <a:latin typeface="Google Sans;Arial;sans-serif"/>
                <a:ea typeface="Songti SC"/>
                <a:cs typeface="Arial Unicode MS"/>
              </a:rPr>
              <a:t>Key Subcategories:</a:t>
            </a:r>
            <a:endParaRPr lang="en-US" sz="1600" kern="100" dirty="0">
              <a:effectLst/>
              <a:latin typeface="Liberation Serif"/>
              <a:ea typeface="Songti SC"/>
              <a:cs typeface="Symbol" panose="05050102010706020507" pitchFamily="18" charset="2"/>
            </a:endParaRPr>
          </a:p>
          <a:p>
            <a:pPr marL="742950" marR="0" lvl="1" indent="-285750">
              <a:lnSpc>
                <a:spcPct val="115000"/>
              </a:lnSpc>
              <a:spcBef>
                <a:spcPts val="0"/>
              </a:spcBef>
              <a:spcAft>
                <a:spcPts val="0"/>
              </a:spcAft>
              <a:buFont typeface="Symbol" panose="05050102010706020507" pitchFamily="18" charset="2"/>
              <a:buChar char=""/>
              <a:tabLst>
                <a:tab pos="0" algn="l"/>
              </a:tabLst>
            </a:pPr>
            <a:r>
              <a:rPr lang="en-US" sz="1600" b="1" kern="100" dirty="0">
                <a:effectLst/>
                <a:latin typeface="Google Sans;Arial;sans-serif"/>
                <a:ea typeface="Songti SC"/>
                <a:cs typeface="Arial Unicode MS"/>
              </a:rPr>
              <a:t>Cash Schemes:</a:t>
            </a:r>
            <a:r>
              <a:rPr lang="en-US" sz="1600" kern="100" dirty="0">
                <a:effectLst/>
                <a:latin typeface="Google Sans;Arial;sans-serif"/>
                <a:ea typeface="Songti SC"/>
                <a:cs typeface="Symbol" panose="05050102010706020507" pitchFamily="18" charset="2"/>
              </a:rPr>
              <a:t> Skimming, cash larceny, and fraudulent disbursements (billing schemes, payroll schemes, expense reimbursement schemes, check tampering).</a:t>
            </a:r>
            <a:endParaRPr lang="en-US" sz="1600" kern="100" dirty="0">
              <a:effectLst/>
              <a:latin typeface="Liberation Serif"/>
              <a:ea typeface="Songti SC"/>
              <a:cs typeface="Symbol" panose="05050102010706020507" pitchFamily="18" charset="2"/>
            </a:endParaRPr>
          </a:p>
          <a:p>
            <a:pPr marL="742950" marR="0" lvl="1" indent="-285750">
              <a:lnSpc>
                <a:spcPct val="115000"/>
              </a:lnSpc>
              <a:spcBef>
                <a:spcPts val="0"/>
              </a:spcBef>
              <a:spcAft>
                <a:spcPts val="0"/>
              </a:spcAft>
              <a:buFont typeface="Symbol" panose="05050102010706020507" pitchFamily="18" charset="2"/>
              <a:buChar char=""/>
              <a:tabLst>
                <a:tab pos="0" algn="l"/>
              </a:tabLst>
            </a:pPr>
            <a:r>
              <a:rPr lang="en-US" sz="1600" b="1" kern="100" dirty="0">
                <a:effectLst/>
                <a:latin typeface="Google Sans;Arial;sans-serif"/>
                <a:ea typeface="Songti SC"/>
                <a:cs typeface="Arial Unicode MS"/>
              </a:rPr>
              <a:t>Non-Cash Schemes:</a:t>
            </a:r>
            <a:r>
              <a:rPr lang="en-US" sz="1600" kern="100" dirty="0">
                <a:effectLst/>
                <a:latin typeface="Google Sans;Arial;sans-serif"/>
                <a:ea typeface="Songti SC"/>
                <a:cs typeface="Symbol" panose="05050102010706020507" pitchFamily="18" charset="2"/>
              </a:rPr>
              <a:t> Misuse or theft of inventory, equipment, and other company assets. [</a:t>
            </a:r>
            <a:r>
              <a:rPr lang="en-US" sz="1600" u="sng" kern="100" dirty="0">
                <a:solidFill>
                  <a:srgbClr val="000080"/>
                </a:solidFill>
                <a:effectLst/>
                <a:latin typeface="Google Sans;Arial;sans-serif"/>
                <a:ea typeface="Songti SC"/>
                <a:cs typeface="Symbol" panose="05050102010706020507" pitchFamily="18" charset="2"/>
                <a:hlinkClick r:id="rId7"/>
              </a:rPr>
              <a:t>1</a:t>
            </a:r>
            <a:r>
              <a:rPr lang="en-US" sz="1600" kern="100" dirty="0">
                <a:effectLst/>
                <a:latin typeface="Google Sans;Arial;sans-serif"/>
                <a:ea typeface="Songti SC"/>
                <a:cs typeface="Symbol" panose="05050102010706020507" pitchFamily="18" charset="2"/>
              </a:rPr>
              <a:t>]</a:t>
            </a:r>
            <a:endParaRPr lang="en-US" sz="1600" kern="100" dirty="0">
              <a:effectLst/>
              <a:latin typeface="Liberation Serif"/>
              <a:ea typeface="Songti SC"/>
              <a:cs typeface="Symbol" panose="05050102010706020507" pitchFamily="18" charset="2"/>
            </a:endParaRPr>
          </a:p>
        </p:txBody>
      </p:sp>
      <p:sp>
        <p:nvSpPr>
          <p:cNvPr id="7" name="Freeform: Shape 6">
            <a:extLst>
              <a:ext uri="{FF2B5EF4-FFF2-40B4-BE49-F238E27FC236}">
                <a16:creationId xmlns:a16="http://schemas.microsoft.com/office/drawing/2014/main" id="{F55B700F-0794-33C7-701D-39DEB3F357A2}"/>
              </a:ext>
            </a:extLst>
          </p:cNvPr>
          <p:cNvSpPr/>
          <p:nvPr/>
        </p:nvSpPr>
        <p:spPr>
          <a:xfrm>
            <a:off x="380257" y="704091"/>
            <a:ext cx="6563468" cy="6106284"/>
          </a:xfrm>
          <a:custGeom>
            <a:avLst/>
            <a:gdLst>
              <a:gd name="connsiteX0" fmla="*/ 5534768 w 6563468"/>
              <a:gd name="connsiteY0" fmla="*/ 5906259 h 6106284"/>
              <a:gd name="connsiteX1" fmla="*/ 5591918 w 6563468"/>
              <a:gd name="connsiteY1" fmla="*/ 5896734 h 6106284"/>
              <a:gd name="connsiteX2" fmla="*/ 5658593 w 6563468"/>
              <a:gd name="connsiteY2" fmla="*/ 5887209 h 6106284"/>
              <a:gd name="connsiteX3" fmla="*/ 5725268 w 6563468"/>
              <a:gd name="connsiteY3" fmla="*/ 5858634 h 6106284"/>
              <a:gd name="connsiteX4" fmla="*/ 5944343 w 6563468"/>
              <a:gd name="connsiteY4" fmla="*/ 5839584 h 6106284"/>
              <a:gd name="connsiteX5" fmla="*/ 6153893 w 6563468"/>
              <a:gd name="connsiteY5" fmla="*/ 5734809 h 6106284"/>
              <a:gd name="connsiteX6" fmla="*/ 6230093 w 6563468"/>
              <a:gd name="connsiteY6" fmla="*/ 5677659 h 6106284"/>
              <a:gd name="connsiteX7" fmla="*/ 6296768 w 6563468"/>
              <a:gd name="connsiteY7" fmla="*/ 5639559 h 6106284"/>
              <a:gd name="connsiteX8" fmla="*/ 6363443 w 6563468"/>
              <a:gd name="connsiteY8" fmla="*/ 5572884 h 6106284"/>
              <a:gd name="connsiteX9" fmla="*/ 6525368 w 6563468"/>
              <a:gd name="connsiteY9" fmla="*/ 5353809 h 6106284"/>
              <a:gd name="connsiteX10" fmla="*/ 6534893 w 6563468"/>
              <a:gd name="connsiteY10" fmla="*/ 5268084 h 6106284"/>
              <a:gd name="connsiteX11" fmla="*/ 6553943 w 6563468"/>
              <a:gd name="connsiteY11" fmla="*/ 5182359 h 6106284"/>
              <a:gd name="connsiteX12" fmla="*/ 6563468 w 6563468"/>
              <a:gd name="connsiteY12" fmla="*/ 5049009 h 6106284"/>
              <a:gd name="connsiteX13" fmla="*/ 6544418 w 6563468"/>
              <a:gd name="connsiteY13" fmla="*/ 4696584 h 6106284"/>
              <a:gd name="connsiteX14" fmla="*/ 6515843 w 6563468"/>
              <a:gd name="connsiteY14" fmla="*/ 4458459 h 6106284"/>
              <a:gd name="connsiteX15" fmla="*/ 6506318 w 6563468"/>
              <a:gd name="connsiteY15" fmla="*/ 3810759 h 6106284"/>
              <a:gd name="connsiteX16" fmla="*/ 6487268 w 6563468"/>
              <a:gd name="connsiteY16" fmla="*/ 3391659 h 6106284"/>
              <a:gd name="connsiteX17" fmla="*/ 6458693 w 6563468"/>
              <a:gd name="connsiteY17" fmla="*/ 3353559 h 6106284"/>
              <a:gd name="connsiteX18" fmla="*/ 6411068 w 6563468"/>
              <a:gd name="connsiteY18" fmla="*/ 3229734 h 6106284"/>
              <a:gd name="connsiteX19" fmla="*/ 6382493 w 6563468"/>
              <a:gd name="connsiteY19" fmla="*/ 3201159 h 6106284"/>
              <a:gd name="connsiteX20" fmla="*/ 6334868 w 6563468"/>
              <a:gd name="connsiteY20" fmla="*/ 3124959 h 6106284"/>
              <a:gd name="connsiteX21" fmla="*/ 6287243 w 6563468"/>
              <a:gd name="connsiteY21" fmla="*/ 3048759 h 6106284"/>
              <a:gd name="connsiteX22" fmla="*/ 6258668 w 6563468"/>
              <a:gd name="connsiteY22" fmla="*/ 3029709 h 6106284"/>
              <a:gd name="connsiteX23" fmla="*/ 5810993 w 6563468"/>
              <a:gd name="connsiteY23" fmla="*/ 2953509 h 6106284"/>
              <a:gd name="connsiteX24" fmla="*/ 5344268 w 6563468"/>
              <a:gd name="connsiteY24" fmla="*/ 2963034 h 6106284"/>
              <a:gd name="connsiteX25" fmla="*/ 5277593 w 6563468"/>
              <a:gd name="connsiteY25" fmla="*/ 2982084 h 6106284"/>
              <a:gd name="connsiteX26" fmla="*/ 5210918 w 6563468"/>
              <a:gd name="connsiteY26" fmla="*/ 2991609 h 6106284"/>
              <a:gd name="connsiteX27" fmla="*/ 5144243 w 6563468"/>
              <a:gd name="connsiteY27" fmla="*/ 3020184 h 6106284"/>
              <a:gd name="connsiteX28" fmla="*/ 5087093 w 6563468"/>
              <a:gd name="connsiteY28" fmla="*/ 3029709 h 6106284"/>
              <a:gd name="connsiteX29" fmla="*/ 4706093 w 6563468"/>
              <a:gd name="connsiteY29" fmla="*/ 3020184 h 6106284"/>
              <a:gd name="connsiteX30" fmla="*/ 4591793 w 6563468"/>
              <a:gd name="connsiteY30" fmla="*/ 2963034 h 6106284"/>
              <a:gd name="connsiteX31" fmla="*/ 4563218 w 6563468"/>
              <a:gd name="connsiteY31" fmla="*/ 2953509 h 6106284"/>
              <a:gd name="connsiteX32" fmla="*/ 4496543 w 6563468"/>
              <a:gd name="connsiteY32" fmla="*/ 2924934 h 6106284"/>
              <a:gd name="connsiteX33" fmla="*/ 4458443 w 6563468"/>
              <a:gd name="connsiteY33" fmla="*/ 2896359 h 6106284"/>
              <a:gd name="connsiteX34" fmla="*/ 4439393 w 6563468"/>
              <a:gd name="connsiteY34" fmla="*/ 2839209 h 6106284"/>
              <a:gd name="connsiteX35" fmla="*/ 4420343 w 6563468"/>
              <a:gd name="connsiteY35" fmla="*/ 2743959 h 6106284"/>
              <a:gd name="connsiteX36" fmla="*/ 4391768 w 6563468"/>
              <a:gd name="connsiteY36" fmla="*/ 2534409 h 6106284"/>
              <a:gd name="connsiteX37" fmla="*/ 4429868 w 6563468"/>
              <a:gd name="connsiteY37" fmla="*/ 1915284 h 6106284"/>
              <a:gd name="connsiteX38" fmla="*/ 4458443 w 6563468"/>
              <a:gd name="connsiteY38" fmla="*/ 1772409 h 6106284"/>
              <a:gd name="connsiteX39" fmla="*/ 4496543 w 6563468"/>
              <a:gd name="connsiteY39" fmla="*/ 1686684 h 6106284"/>
              <a:gd name="connsiteX40" fmla="*/ 4544168 w 6563468"/>
              <a:gd name="connsiteY40" fmla="*/ 1410459 h 6106284"/>
              <a:gd name="connsiteX41" fmla="*/ 4601318 w 6563468"/>
              <a:gd name="connsiteY41" fmla="*/ 1162809 h 6106284"/>
              <a:gd name="connsiteX42" fmla="*/ 4629893 w 6563468"/>
              <a:gd name="connsiteY42" fmla="*/ 1019934 h 6106284"/>
              <a:gd name="connsiteX43" fmla="*/ 4639418 w 6563468"/>
              <a:gd name="connsiteY43" fmla="*/ 934209 h 6106284"/>
              <a:gd name="connsiteX44" fmla="*/ 4658468 w 6563468"/>
              <a:gd name="connsiteY44" fmla="*/ 867534 h 6106284"/>
              <a:gd name="connsiteX45" fmla="*/ 4677518 w 6563468"/>
              <a:gd name="connsiteY45" fmla="*/ 791334 h 6106284"/>
              <a:gd name="connsiteX46" fmla="*/ 4667993 w 6563468"/>
              <a:gd name="connsiteY46" fmla="*/ 629409 h 6106284"/>
              <a:gd name="connsiteX47" fmla="*/ 4629893 w 6563468"/>
              <a:gd name="connsiteY47" fmla="*/ 467484 h 6106284"/>
              <a:gd name="connsiteX48" fmla="*/ 4610843 w 6563468"/>
              <a:gd name="connsiteY48" fmla="*/ 438909 h 6106284"/>
              <a:gd name="connsiteX49" fmla="*/ 4620368 w 6563468"/>
              <a:gd name="connsiteY49" fmla="*/ 372234 h 6106284"/>
              <a:gd name="connsiteX50" fmla="*/ 4648943 w 6563468"/>
              <a:gd name="connsiteY50" fmla="*/ 248409 h 6106284"/>
              <a:gd name="connsiteX51" fmla="*/ 4629893 w 6563468"/>
              <a:gd name="connsiteY51" fmla="*/ 96009 h 6106284"/>
              <a:gd name="connsiteX52" fmla="*/ 4582268 w 6563468"/>
              <a:gd name="connsiteY52" fmla="*/ 48384 h 6106284"/>
              <a:gd name="connsiteX53" fmla="*/ 4553693 w 6563468"/>
              <a:gd name="connsiteY53" fmla="*/ 29334 h 6106284"/>
              <a:gd name="connsiteX54" fmla="*/ 3839318 w 6563468"/>
              <a:gd name="connsiteY54" fmla="*/ 19809 h 6106284"/>
              <a:gd name="connsiteX55" fmla="*/ 3715493 w 6563468"/>
              <a:gd name="connsiteY55" fmla="*/ 759 h 6106284"/>
              <a:gd name="connsiteX56" fmla="*/ 3239243 w 6563468"/>
              <a:gd name="connsiteY56" fmla="*/ 19809 h 6106284"/>
              <a:gd name="connsiteX57" fmla="*/ 3191618 w 6563468"/>
              <a:gd name="connsiteY57" fmla="*/ 29334 h 6106284"/>
              <a:gd name="connsiteX58" fmla="*/ 3124943 w 6563468"/>
              <a:gd name="connsiteY58" fmla="*/ 38859 h 6106284"/>
              <a:gd name="connsiteX59" fmla="*/ 3096368 w 6563468"/>
              <a:gd name="connsiteY59" fmla="*/ 48384 h 6106284"/>
              <a:gd name="connsiteX60" fmla="*/ 3010643 w 6563468"/>
              <a:gd name="connsiteY60" fmla="*/ 57909 h 6106284"/>
              <a:gd name="connsiteX61" fmla="*/ 2963018 w 6563468"/>
              <a:gd name="connsiteY61" fmla="*/ 67434 h 6106284"/>
              <a:gd name="connsiteX62" fmla="*/ 2896343 w 6563468"/>
              <a:gd name="connsiteY62" fmla="*/ 76959 h 6106284"/>
              <a:gd name="connsiteX63" fmla="*/ 2867768 w 6563468"/>
              <a:gd name="connsiteY63" fmla="*/ 115059 h 6106284"/>
              <a:gd name="connsiteX64" fmla="*/ 2829668 w 6563468"/>
              <a:gd name="connsiteY64" fmla="*/ 134109 h 6106284"/>
              <a:gd name="connsiteX65" fmla="*/ 2782043 w 6563468"/>
              <a:gd name="connsiteY65" fmla="*/ 172209 h 6106284"/>
              <a:gd name="connsiteX66" fmla="*/ 2753468 w 6563468"/>
              <a:gd name="connsiteY66" fmla="*/ 229359 h 6106284"/>
              <a:gd name="connsiteX67" fmla="*/ 2762993 w 6563468"/>
              <a:gd name="connsiteY67" fmla="*/ 391284 h 6106284"/>
              <a:gd name="connsiteX68" fmla="*/ 2810618 w 6563468"/>
              <a:gd name="connsiteY68" fmla="*/ 505584 h 6106284"/>
              <a:gd name="connsiteX69" fmla="*/ 2820143 w 6563468"/>
              <a:gd name="connsiteY69" fmla="*/ 534159 h 6106284"/>
              <a:gd name="connsiteX70" fmla="*/ 2867768 w 6563468"/>
              <a:gd name="connsiteY70" fmla="*/ 600834 h 6106284"/>
              <a:gd name="connsiteX71" fmla="*/ 2972543 w 6563468"/>
              <a:gd name="connsiteY71" fmla="*/ 677034 h 6106284"/>
              <a:gd name="connsiteX72" fmla="*/ 3010643 w 6563468"/>
              <a:gd name="connsiteY72" fmla="*/ 705609 h 6106284"/>
              <a:gd name="connsiteX73" fmla="*/ 3163043 w 6563468"/>
              <a:gd name="connsiteY73" fmla="*/ 781809 h 6106284"/>
              <a:gd name="connsiteX74" fmla="*/ 3277343 w 6563468"/>
              <a:gd name="connsiteY74" fmla="*/ 800859 h 6106284"/>
              <a:gd name="connsiteX75" fmla="*/ 3363068 w 6563468"/>
              <a:gd name="connsiteY75" fmla="*/ 838959 h 6106284"/>
              <a:gd name="connsiteX76" fmla="*/ 3448793 w 6563468"/>
              <a:gd name="connsiteY76" fmla="*/ 877059 h 6106284"/>
              <a:gd name="connsiteX77" fmla="*/ 3496418 w 6563468"/>
              <a:gd name="connsiteY77" fmla="*/ 905634 h 6106284"/>
              <a:gd name="connsiteX78" fmla="*/ 3524993 w 6563468"/>
              <a:gd name="connsiteY78" fmla="*/ 915159 h 6106284"/>
              <a:gd name="connsiteX79" fmla="*/ 3553568 w 6563468"/>
              <a:gd name="connsiteY79" fmla="*/ 962784 h 6106284"/>
              <a:gd name="connsiteX80" fmla="*/ 3572618 w 6563468"/>
              <a:gd name="connsiteY80" fmla="*/ 1143759 h 6106284"/>
              <a:gd name="connsiteX81" fmla="*/ 3563093 w 6563468"/>
              <a:gd name="connsiteY81" fmla="*/ 1362834 h 6106284"/>
              <a:gd name="connsiteX82" fmla="*/ 3524993 w 6563468"/>
              <a:gd name="connsiteY82" fmla="*/ 1410459 h 6106284"/>
              <a:gd name="connsiteX83" fmla="*/ 3486893 w 6563468"/>
              <a:gd name="connsiteY83" fmla="*/ 1467609 h 6106284"/>
              <a:gd name="connsiteX84" fmla="*/ 3439268 w 6563468"/>
              <a:gd name="connsiteY84" fmla="*/ 1524759 h 6106284"/>
              <a:gd name="connsiteX85" fmla="*/ 3324968 w 6563468"/>
              <a:gd name="connsiteY85" fmla="*/ 1724784 h 6106284"/>
              <a:gd name="connsiteX86" fmla="*/ 3229718 w 6563468"/>
              <a:gd name="connsiteY86" fmla="*/ 1848609 h 6106284"/>
              <a:gd name="connsiteX87" fmla="*/ 3163043 w 6563468"/>
              <a:gd name="connsiteY87" fmla="*/ 1972434 h 6106284"/>
              <a:gd name="connsiteX88" fmla="*/ 3143993 w 6563468"/>
              <a:gd name="connsiteY88" fmla="*/ 2029584 h 6106284"/>
              <a:gd name="connsiteX89" fmla="*/ 3020168 w 6563468"/>
              <a:gd name="connsiteY89" fmla="*/ 2181984 h 6106284"/>
              <a:gd name="connsiteX90" fmla="*/ 2772518 w 6563468"/>
              <a:gd name="connsiteY90" fmla="*/ 2286759 h 6106284"/>
              <a:gd name="connsiteX91" fmla="*/ 2639168 w 6563468"/>
              <a:gd name="connsiteY91" fmla="*/ 2305809 h 6106284"/>
              <a:gd name="connsiteX92" fmla="*/ 2334368 w 6563468"/>
              <a:gd name="connsiteY92" fmla="*/ 2420109 h 6106284"/>
              <a:gd name="connsiteX93" fmla="*/ 2220068 w 6563468"/>
              <a:gd name="connsiteY93" fmla="*/ 2486784 h 6106284"/>
              <a:gd name="connsiteX94" fmla="*/ 2020043 w 6563468"/>
              <a:gd name="connsiteY94" fmla="*/ 2639184 h 6106284"/>
              <a:gd name="connsiteX95" fmla="*/ 1953368 w 6563468"/>
              <a:gd name="connsiteY95" fmla="*/ 2705859 h 6106284"/>
              <a:gd name="connsiteX96" fmla="*/ 1886693 w 6563468"/>
              <a:gd name="connsiteY96" fmla="*/ 2724909 h 6106284"/>
              <a:gd name="connsiteX97" fmla="*/ 1800968 w 6563468"/>
              <a:gd name="connsiteY97" fmla="*/ 2753484 h 6106284"/>
              <a:gd name="connsiteX98" fmla="*/ 1734293 w 6563468"/>
              <a:gd name="connsiteY98" fmla="*/ 2782059 h 6106284"/>
              <a:gd name="connsiteX99" fmla="*/ 1667618 w 6563468"/>
              <a:gd name="connsiteY99" fmla="*/ 2791584 h 6106284"/>
              <a:gd name="connsiteX100" fmla="*/ 1448543 w 6563468"/>
              <a:gd name="connsiteY100" fmla="*/ 2820159 h 6106284"/>
              <a:gd name="connsiteX101" fmla="*/ 1153268 w 6563468"/>
              <a:gd name="connsiteY101" fmla="*/ 2934459 h 6106284"/>
              <a:gd name="connsiteX102" fmla="*/ 1010393 w 6563468"/>
              <a:gd name="connsiteY102" fmla="*/ 2972559 h 6106284"/>
              <a:gd name="connsiteX103" fmla="*/ 791318 w 6563468"/>
              <a:gd name="connsiteY103" fmla="*/ 3105909 h 6106284"/>
              <a:gd name="connsiteX104" fmla="*/ 686543 w 6563468"/>
              <a:gd name="connsiteY104" fmla="*/ 3163059 h 6106284"/>
              <a:gd name="connsiteX105" fmla="*/ 515093 w 6563468"/>
              <a:gd name="connsiteY105" fmla="*/ 3267834 h 6106284"/>
              <a:gd name="connsiteX106" fmla="*/ 467468 w 6563468"/>
              <a:gd name="connsiteY106" fmla="*/ 3305934 h 6106284"/>
              <a:gd name="connsiteX107" fmla="*/ 419843 w 6563468"/>
              <a:gd name="connsiteY107" fmla="*/ 3372609 h 6106284"/>
              <a:gd name="connsiteX108" fmla="*/ 343643 w 6563468"/>
              <a:gd name="connsiteY108" fmla="*/ 3525009 h 6106284"/>
              <a:gd name="connsiteX109" fmla="*/ 324593 w 6563468"/>
              <a:gd name="connsiteY109" fmla="*/ 3639309 h 6106284"/>
              <a:gd name="connsiteX110" fmla="*/ 248393 w 6563468"/>
              <a:gd name="connsiteY110" fmla="*/ 3782184 h 6106284"/>
              <a:gd name="connsiteX111" fmla="*/ 153143 w 6563468"/>
              <a:gd name="connsiteY111" fmla="*/ 4010784 h 6106284"/>
              <a:gd name="connsiteX112" fmla="*/ 105518 w 6563468"/>
              <a:gd name="connsiteY112" fmla="*/ 4163184 h 6106284"/>
              <a:gd name="connsiteX113" fmla="*/ 76943 w 6563468"/>
              <a:gd name="connsiteY113" fmla="*/ 4344159 h 6106284"/>
              <a:gd name="connsiteX114" fmla="*/ 67418 w 6563468"/>
              <a:gd name="connsiteY114" fmla="*/ 4829934 h 6106284"/>
              <a:gd name="connsiteX115" fmla="*/ 38843 w 6563468"/>
              <a:gd name="connsiteY115" fmla="*/ 4991859 h 6106284"/>
              <a:gd name="connsiteX116" fmla="*/ 29318 w 6563468"/>
              <a:gd name="connsiteY116" fmla="*/ 5077584 h 6106284"/>
              <a:gd name="connsiteX117" fmla="*/ 10268 w 6563468"/>
              <a:gd name="connsiteY117" fmla="*/ 6020559 h 6106284"/>
              <a:gd name="connsiteX118" fmla="*/ 48368 w 6563468"/>
              <a:gd name="connsiteY118" fmla="*/ 6106284 h 6106284"/>
              <a:gd name="connsiteX119" fmla="*/ 276968 w 6563468"/>
              <a:gd name="connsiteY119" fmla="*/ 6096759 h 6106284"/>
              <a:gd name="connsiteX120" fmla="*/ 372218 w 6563468"/>
              <a:gd name="connsiteY120" fmla="*/ 6068184 h 6106284"/>
              <a:gd name="connsiteX121" fmla="*/ 553193 w 6563468"/>
              <a:gd name="connsiteY121" fmla="*/ 6039609 h 6106284"/>
              <a:gd name="connsiteX122" fmla="*/ 657968 w 6563468"/>
              <a:gd name="connsiteY122" fmla="*/ 6020559 h 6106284"/>
              <a:gd name="connsiteX123" fmla="*/ 972293 w 6563468"/>
              <a:gd name="connsiteY123" fmla="*/ 6011034 h 6106284"/>
              <a:gd name="connsiteX124" fmla="*/ 3496418 w 6563468"/>
              <a:gd name="connsiteY124" fmla="*/ 6030084 h 6106284"/>
              <a:gd name="connsiteX125" fmla="*/ 3858368 w 6563468"/>
              <a:gd name="connsiteY125" fmla="*/ 6039609 h 6106284"/>
              <a:gd name="connsiteX126" fmla="*/ 4706093 w 6563468"/>
              <a:gd name="connsiteY126" fmla="*/ 6049134 h 6106284"/>
              <a:gd name="connsiteX127" fmla="*/ 5125193 w 6563468"/>
              <a:gd name="connsiteY127" fmla="*/ 6039609 h 6106284"/>
              <a:gd name="connsiteX128" fmla="*/ 5258543 w 6563468"/>
              <a:gd name="connsiteY128" fmla="*/ 6030084 h 6106284"/>
              <a:gd name="connsiteX129" fmla="*/ 5353793 w 6563468"/>
              <a:gd name="connsiteY129" fmla="*/ 6001509 h 6106284"/>
              <a:gd name="connsiteX130" fmla="*/ 5534768 w 6563468"/>
              <a:gd name="connsiteY130" fmla="*/ 5963409 h 6106284"/>
              <a:gd name="connsiteX131" fmla="*/ 5496668 w 6563468"/>
              <a:gd name="connsiteY131" fmla="*/ 5906259 h 6106284"/>
              <a:gd name="connsiteX132" fmla="*/ 5477618 w 6563468"/>
              <a:gd name="connsiteY132" fmla="*/ 5906259 h 610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6563468" h="6106284">
                <a:moveTo>
                  <a:pt x="5534768" y="5906259"/>
                </a:moveTo>
                <a:lnTo>
                  <a:pt x="5591918" y="5896734"/>
                </a:lnTo>
                <a:cubicBezTo>
                  <a:pt x="5614108" y="5893320"/>
                  <a:pt x="5637006" y="5893377"/>
                  <a:pt x="5658593" y="5887209"/>
                </a:cubicBezTo>
                <a:cubicBezTo>
                  <a:pt x="5681843" y="5880566"/>
                  <a:pt x="5701417" y="5862609"/>
                  <a:pt x="5725268" y="5858634"/>
                </a:cubicBezTo>
                <a:cubicBezTo>
                  <a:pt x="5797571" y="5846583"/>
                  <a:pt x="5871318" y="5845934"/>
                  <a:pt x="5944343" y="5839584"/>
                </a:cubicBezTo>
                <a:cubicBezTo>
                  <a:pt x="6027446" y="5806343"/>
                  <a:pt x="6078549" y="5791317"/>
                  <a:pt x="6153893" y="5734809"/>
                </a:cubicBezTo>
                <a:cubicBezTo>
                  <a:pt x="6179293" y="5715759"/>
                  <a:pt x="6203675" y="5695271"/>
                  <a:pt x="6230093" y="5677659"/>
                </a:cubicBezTo>
                <a:cubicBezTo>
                  <a:pt x="6251392" y="5663460"/>
                  <a:pt x="6276640" y="5655374"/>
                  <a:pt x="6296768" y="5639559"/>
                </a:cubicBezTo>
                <a:cubicBezTo>
                  <a:pt x="6321483" y="5620140"/>
                  <a:pt x="6342417" y="5596246"/>
                  <a:pt x="6363443" y="5572884"/>
                </a:cubicBezTo>
                <a:cubicBezTo>
                  <a:pt x="6475756" y="5448092"/>
                  <a:pt x="6451617" y="5476728"/>
                  <a:pt x="6525368" y="5353809"/>
                </a:cubicBezTo>
                <a:cubicBezTo>
                  <a:pt x="6528543" y="5325234"/>
                  <a:pt x="6530166" y="5296444"/>
                  <a:pt x="6534893" y="5268084"/>
                </a:cubicBezTo>
                <a:cubicBezTo>
                  <a:pt x="6539705" y="5239210"/>
                  <a:pt x="6550157" y="5211385"/>
                  <a:pt x="6553943" y="5182359"/>
                </a:cubicBezTo>
                <a:cubicBezTo>
                  <a:pt x="6559707" y="5138170"/>
                  <a:pt x="6560293" y="5093459"/>
                  <a:pt x="6563468" y="5049009"/>
                </a:cubicBezTo>
                <a:cubicBezTo>
                  <a:pt x="6557118" y="4931534"/>
                  <a:pt x="6551912" y="4813992"/>
                  <a:pt x="6544418" y="4696584"/>
                </a:cubicBezTo>
                <a:cubicBezTo>
                  <a:pt x="6540039" y="4627975"/>
                  <a:pt x="6524163" y="4520860"/>
                  <a:pt x="6515843" y="4458459"/>
                </a:cubicBezTo>
                <a:cubicBezTo>
                  <a:pt x="6512668" y="4242559"/>
                  <a:pt x="6512100" y="4026605"/>
                  <a:pt x="6506318" y="3810759"/>
                </a:cubicBezTo>
                <a:cubicBezTo>
                  <a:pt x="6502574" y="3670965"/>
                  <a:pt x="6571175" y="3503534"/>
                  <a:pt x="6487268" y="3391659"/>
                </a:cubicBezTo>
                <a:lnTo>
                  <a:pt x="6458693" y="3353559"/>
                </a:lnTo>
                <a:cubicBezTo>
                  <a:pt x="6445263" y="3313268"/>
                  <a:pt x="6429368" y="3263720"/>
                  <a:pt x="6411068" y="3229734"/>
                </a:cubicBezTo>
                <a:cubicBezTo>
                  <a:pt x="6404682" y="3217874"/>
                  <a:pt x="6392018" y="3210684"/>
                  <a:pt x="6382493" y="3201159"/>
                </a:cubicBezTo>
                <a:cubicBezTo>
                  <a:pt x="6362887" y="3142340"/>
                  <a:pt x="6386635" y="3202610"/>
                  <a:pt x="6334868" y="3124959"/>
                </a:cubicBezTo>
                <a:cubicBezTo>
                  <a:pt x="6304688" y="3079689"/>
                  <a:pt x="6328844" y="3090360"/>
                  <a:pt x="6287243" y="3048759"/>
                </a:cubicBezTo>
                <a:cubicBezTo>
                  <a:pt x="6279148" y="3040664"/>
                  <a:pt x="6269893" y="3031954"/>
                  <a:pt x="6258668" y="3029709"/>
                </a:cubicBezTo>
                <a:cubicBezTo>
                  <a:pt x="6110236" y="3000023"/>
                  <a:pt x="5810993" y="2953509"/>
                  <a:pt x="5810993" y="2953509"/>
                </a:cubicBezTo>
                <a:cubicBezTo>
                  <a:pt x="5655418" y="2956684"/>
                  <a:pt x="5499653" y="2954710"/>
                  <a:pt x="5344268" y="2963034"/>
                </a:cubicBezTo>
                <a:cubicBezTo>
                  <a:pt x="5321187" y="2964270"/>
                  <a:pt x="5300194" y="2977241"/>
                  <a:pt x="5277593" y="2982084"/>
                </a:cubicBezTo>
                <a:cubicBezTo>
                  <a:pt x="5255641" y="2986788"/>
                  <a:pt x="5233143" y="2988434"/>
                  <a:pt x="5210918" y="2991609"/>
                </a:cubicBezTo>
                <a:cubicBezTo>
                  <a:pt x="5188693" y="3001134"/>
                  <a:pt x="5167354" y="3013073"/>
                  <a:pt x="5144243" y="3020184"/>
                </a:cubicBezTo>
                <a:cubicBezTo>
                  <a:pt x="5125784" y="3025864"/>
                  <a:pt x="5106406" y="3029709"/>
                  <a:pt x="5087093" y="3029709"/>
                </a:cubicBezTo>
                <a:cubicBezTo>
                  <a:pt x="4960053" y="3029709"/>
                  <a:pt x="4833093" y="3023359"/>
                  <a:pt x="4706093" y="3020184"/>
                </a:cubicBezTo>
                <a:cubicBezTo>
                  <a:pt x="4618163" y="3002598"/>
                  <a:pt x="4694456" y="3024632"/>
                  <a:pt x="4591793" y="2963034"/>
                </a:cubicBezTo>
                <a:cubicBezTo>
                  <a:pt x="4583184" y="2957868"/>
                  <a:pt x="4572540" y="2957238"/>
                  <a:pt x="4563218" y="2953509"/>
                </a:cubicBezTo>
                <a:cubicBezTo>
                  <a:pt x="4540767" y="2944529"/>
                  <a:pt x="4517771" y="2936513"/>
                  <a:pt x="4496543" y="2924934"/>
                </a:cubicBezTo>
                <a:cubicBezTo>
                  <a:pt x="4482606" y="2917332"/>
                  <a:pt x="4471143" y="2905884"/>
                  <a:pt x="4458443" y="2896359"/>
                </a:cubicBezTo>
                <a:cubicBezTo>
                  <a:pt x="4452093" y="2877309"/>
                  <a:pt x="4445163" y="2858443"/>
                  <a:pt x="4439393" y="2839209"/>
                </a:cubicBezTo>
                <a:cubicBezTo>
                  <a:pt x="4429926" y="2807653"/>
                  <a:pt x="4425024" y="2776727"/>
                  <a:pt x="4420343" y="2743959"/>
                </a:cubicBezTo>
                <a:cubicBezTo>
                  <a:pt x="4410373" y="2674171"/>
                  <a:pt x="4391768" y="2534409"/>
                  <a:pt x="4391768" y="2534409"/>
                </a:cubicBezTo>
                <a:cubicBezTo>
                  <a:pt x="4399868" y="2202306"/>
                  <a:pt x="4387087" y="2193363"/>
                  <a:pt x="4429868" y="1915284"/>
                </a:cubicBezTo>
                <a:cubicBezTo>
                  <a:pt x="4437253" y="1867281"/>
                  <a:pt x="4444844" y="1819034"/>
                  <a:pt x="4458443" y="1772409"/>
                </a:cubicBezTo>
                <a:cubicBezTo>
                  <a:pt x="4467199" y="1742390"/>
                  <a:pt x="4483843" y="1715259"/>
                  <a:pt x="4496543" y="1686684"/>
                </a:cubicBezTo>
                <a:cubicBezTo>
                  <a:pt x="4512418" y="1594609"/>
                  <a:pt x="4523159" y="1501500"/>
                  <a:pt x="4544168" y="1410459"/>
                </a:cubicBezTo>
                <a:cubicBezTo>
                  <a:pt x="4563218" y="1327909"/>
                  <a:pt x="4584703" y="1245883"/>
                  <a:pt x="4601318" y="1162809"/>
                </a:cubicBezTo>
                <a:cubicBezTo>
                  <a:pt x="4610843" y="1115184"/>
                  <a:pt x="4621908" y="1067841"/>
                  <a:pt x="4629893" y="1019934"/>
                </a:cubicBezTo>
                <a:cubicBezTo>
                  <a:pt x="4634620" y="991574"/>
                  <a:pt x="4634120" y="962467"/>
                  <a:pt x="4639418" y="934209"/>
                </a:cubicBezTo>
                <a:cubicBezTo>
                  <a:pt x="4643678" y="911491"/>
                  <a:pt x="4652862" y="889958"/>
                  <a:pt x="4658468" y="867534"/>
                </a:cubicBezTo>
                <a:lnTo>
                  <a:pt x="4677518" y="791334"/>
                </a:lnTo>
                <a:cubicBezTo>
                  <a:pt x="4674343" y="737359"/>
                  <a:pt x="4673557" y="683190"/>
                  <a:pt x="4667993" y="629409"/>
                </a:cubicBezTo>
                <a:cubicBezTo>
                  <a:pt x="4661507" y="566716"/>
                  <a:pt x="4656482" y="520662"/>
                  <a:pt x="4629893" y="467484"/>
                </a:cubicBezTo>
                <a:cubicBezTo>
                  <a:pt x="4624773" y="457245"/>
                  <a:pt x="4617193" y="448434"/>
                  <a:pt x="4610843" y="438909"/>
                </a:cubicBezTo>
                <a:cubicBezTo>
                  <a:pt x="4614018" y="416684"/>
                  <a:pt x="4616231" y="394300"/>
                  <a:pt x="4620368" y="372234"/>
                </a:cubicBezTo>
                <a:cubicBezTo>
                  <a:pt x="4628577" y="328454"/>
                  <a:pt x="4638437" y="290434"/>
                  <a:pt x="4648943" y="248409"/>
                </a:cubicBezTo>
                <a:cubicBezTo>
                  <a:pt x="4642593" y="197609"/>
                  <a:pt x="4639933" y="146210"/>
                  <a:pt x="4629893" y="96009"/>
                </a:cubicBezTo>
                <a:cubicBezTo>
                  <a:pt x="4619844" y="45764"/>
                  <a:pt x="4614774" y="64637"/>
                  <a:pt x="4582268" y="48384"/>
                </a:cubicBezTo>
                <a:cubicBezTo>
                  <a:pt x="4572029" y="43264"/>
                  <a:pt x="4565132" y="29774"/>
                  <a:pt x="4553693" y="29334"/>
                </a:cubicBezTo>
                <a:cubicBezTo>
                  <a:pt x="4315723" y="20181"/>
                  <a:pt x="4077443" y="22984"/>
                  <a:pt x="3839318" y="19809"/>
                </a:cubicBezTo>
                <a:cubicBezTo>
                  <a:pt x="3798043" y="13459"/>
                  <a:pt x="3757245" y="1611"/>
                  <a:pt x="3715493" y="759"/>
                </a:cubicBezTo>
                <a:cubicBezTo>
                  <a:pt x="3531337" y="-2999"/>
                  <a:pt x="3407419" y="7796"/>
                  <a:pt x="3239243" y="19809"/>
                </a:cubicBezTo>
                <a:cubicBezTo>
                  <a:pt x="3223368" y="22984"/>
                  <a:pt x="3207587" y="26672"/>
                  <a:pt x="3191618" y="29334"/>
                </a:cubicBezTo>
                <a:cubicBezTo>
                  <a:pt x="3169473" y="33025"/>
                  <a:pt x="3146958" y="34456"/>
                  <a:pt x="3124943" y="38859"/>
                </a:cubicBezTo>
                <a:cubicBezTo>
                  <a:pt x="3115098" y="40828"/>
                  <a:pt x="3106272" y="46733"/>
                  <a:pt x="3096368" y="48384"/>
                </a:cubicBezTo>
                <a:cubicBezTo>
                  <a:pt x="3068008" y="53111"/>
                  <a:pt x="3039105" y="53843"/>
                  <a:pt x="3010643" y="57909"/>
                </a:cubicBezTo>
                <a:cubicBezTo>
                  <a:pt x="2994616" y="60199"/>
                  <a:pt x="2978987" y="64772"/>
                  <a:pt x="2963018" y="67434"/>
                </a:cubicBezTo>
                <a:cubicBezTo>
                  <a:pt x="2940873" y="71125"/>
                  <a:pt x="2918568" y="73784"/>
                  <a:pt x="2896343" y="76959"/>
                </a:cubicBezTo>
                <a:cubicBezTo>
                  <a:pt x="2886818" y="89659"/>
                  <a:pt x="2879821" y="104728"/>
                  <a:pt x="2867768" y="115059"/>
                </a:cubicBezTo>
                <a:cubicBezTo>
                  <a:pt x="2856987" y="124300"/>
                  <a:pt x="2841482" y="126233"/>
                  <a:pt x="2829668" y="134109"/>
                </a:cubicBezTo>
                <a:cubicBezTo>
                  <a:pt x="2812752" y="145386"/>
                  <a:pt x="2797918" y="159509"/>
                  <a:pt x="2782043" y="172209"/>
                </a:cubicBezTo>
                <a:cubicBezTo>
                  <a:pt x="2772518" y="191259"/>
                  <a:pt x="2760203" y="209153"/>
                  <a:pt x="2753468" y="229359"/>
                </a:cubicBezTo>
                <a:cubicBezTo>
                  <a:pt x="2735089" y="284496"/>
                  <a:pt x="2746036" y="335567"/>
                  <a:pt x="2762993" y="391284"/>
                </a:cubicBezTo>
                <a:cubicBezTo>
                  <a:pt x="2775011" y="430771"/>
                  <a:pt x="2797566" y="466427"/>
                  <a:pt x="2810618" y="505584"/>
                </a:cubicBezTo>
                <a:cubicBezTo>
                  <a:pt x="2813793" y="515109"/>
                  <a:pt x="2815653" y="525179"/>
                  <a:pt x="2820143" y="534159"/>
                </a:cubicBezTo>
                <a:cubicBezTo>
                  <a:pt x="2825551" y="544976"/>
                  <a:pt x="2863454" y="596520"/>
                  <a:pt x="2867768" y="600834"/>
                </a:cubicBezTo>
                <a:cubicBezTo>
                  <a:pt x="2896910" y="629976"/>
                  <a:pt x="2939427" y="653853"/>
                  <a:pt x="2972543" y="677034"/>
                </a:cubicBezTo>
                <a:cubicBezTo>
                  <a:pt x="2985548" y="686138"/>
                  <a:pt x="2997250" y="697086"/>
                  <a:pt x="3010643" y="705609"/>
                </a:cubicBezTo>
                <a:cubicBezTo>
                  <a:pt x="3046659" y="728528"/>
                  <a:pt x="3124546" y="770810"/>
                  <a:pt x="3163043" y="781809"/>
                </a:cubicBezTo>
                <a:cubicBezTo>
                  <a:pt x="3200182" y="792420"/>
                  <a:pt x="3239243" y="794509"/>
                  <a:pt x="3277343" y="800859"/>
                </a:cubicBezTo>
                <a:cubicBezTo>
                  <a:pt x="3305918" y="813559"/>
                  <a:pt x="3335099" y="824975"/>
                  <a:pt x="3363068" y="838959"/>
                </a:cubicBezTo>
                <a:cubicBezTo>
                  <a:pt x="3445458" y="880154"/>
                  <a:pt x="3376087" y="858883"/>
                  <a:pt x="3448793" y="877059"/>
                </a:cubicBezTo>
                <a:cubicBezTo>
                  <a:pt x="3464668" y="886584"/>
                  <a:pt x="3479859" y="897355"/>
                  <a:pt x="3496418" y="905634"/>
                </a:cubicBezTo>
                <a:cubicBezTo>
                  <a:pt x="3505398" y="910124"/>
                  <a:pt x="3517893" y="908059"/>
                  <a:pt x="3524993" y="915159"/>
                </a:cubicBezTo>
                <a:cubicBezTo>
                  <a:pt x="3538084" y="928250"/>
                  <a:pt x="3544043" y="946909"/>
                  <a:pt x="3553568" y="962784"/>
                </a:cubicBezTo>
                <a:cubicBezTo>
                  <a:pt x="3567953" y="1034710"/>
                  <a:pt x="3572618" y="1047653"/>
                  <a:pt x="3572618" y="1143759"/>
                </a:cubicBezTo>
                <a:cubicBezTo>
                  <a:pt x="3572618" y="1216853"/>
                  <a:pt x="3575942" y="1290878"/>
                  <a:pt x="3563093" y="1362834"/>
                </a:cubicBezTo>
                <a:cubicBezTo>
                  <a:pt x="3559519" y="1382847"/>
                  <a:pt x="3536950" y="1394017"/>
                  <a:pt x="3524993" y="1410459"/>
                </a:cubicBezTo>
                <a:cubicBezTo>
                  <a:pt x="3511527" y="1428975"/>
                  <a:pt x="3500630" y="1449293"/>
                  <a:pt x="3486893" y="1467609"/>
                </a:cubicBezTo>
                <a:cubicBezTo>
                  <a:pt x="3472014" y="1487447"/>
                  <a:pt x="3452480" y="1503775"/>
                  <a:pt x="3439268" y="1524759"/>
                </a:cubicBezTo>
                <a:cubicBezTo>
                  <a:pt x="3398352" y="1589744"/>
                  <a:pt x="3371790" y="1663916"/>
                  <a:pt x="3324968" y="1724784"/>
                </a:cubicBezTo>
                <a:cubicBezTo>
                  <a:pt x="3293218" y="1766059"/>
                  <a:pt x="3258215" y="1805025"/>
                  <a:pt x="3229718" y="1848609"/>
                </a:cubicBezTo>
                <a:cubicBezTo>
                  <a:pt x="3204064" y="1887845"/>
                  <a:pt x="3183111" y="1930068"/>
                  <a:pt x="3163043" y="1972434"/>
                </a:cubicBezTo>
                <a:cubicBezTo>
                  <a:pt x="3154447" y="1990581"/>
                  <a:pt x="3153838" y="2012082"/>
                  <a:pt x="3143993" y="2029584"/>
                </a:cubicBezTo>
                <a:cubicBezTo>
                  <a:pt x="3123218" y="2066517"/>
                  <a:pt x="3062076" y="2153310"/>
                  <a:pt x="3020168" y="2181984"/>
                </a:cubicBezTo>
                <a:cubicBezTo>
                  <a:pt x="2943246" y="2234615"/>
                  <a:pt x="2862914" y="2266671"/>
                  <a:pt x="2772518" y="2286759"/>
                </a:cubicBezTo>
                <a:cubicBezTo>
                  <a:pt x="2728686" y="2296499"/>
                  <a:pt x="2683618" y="2299459"/>
                  <a:pt x="2639168" y="2305809"/>
                </a:cubicBezTo>
                <a:cubicBezTo>
                  <a:pt x="2569449" y="2330211"/>
                  <a:pt x="2412769" y="2380909"/>
                  <a:pt x="2334368" y="2420109"/>
                </a:cubicBezTo>
                <a:cubicBezTo>
                  <a:pt x="2294916" y="2439835"/>
                  <a:pt x="2257219" y="2463007"/>
                  <a:pt x="2220068" y="2486784"/>
                </a:cubicBezTo>
                <a:cubicBezTo>
                  <a:pt x="2129237" y="2544916"/>
                  <a:pt x="2093185" y="2570918"/>
                  <a:pt x="2020043" y="2639184"/>
                </a:cubicBezTo>
                <a:cubicBezTo>
                  <a:pt x="1997065" y="2660630"/>
                  <a:pt x="1979807" y="2688863"/>
                  <a:pt x="1953368" y="2705859"/>
                </a:cubicBezTo>
                <a:cubicBezTo>
                  <a:pt x="1933925" y="2718358"/>
                  <a:pt x="1908755" y="2718015"/>
                  <a:pt x="1886693" y="2724909"/>
                </a:cubicBezTo>
                <a:cubicBezTo>
                  <a:pt x="1857943" y="2733893"/>
                  <a:pt x="1829171" y="2742908"/>
                  <a:pt x="1800968" y="2753484"/>
                </a:cubicBezTo>
                <a:cubicBezTo>
                  <a:pt x="1778327" y="2761974"/>
                  <a:pt x="1757543" y="2775416"/>
                  <a:pt x="1734293" y="2782059"/>
                </a:cubicBezTo>
                <a:cubicBezTo>
                  <a:pt x="1712706" y="2788227"/>
                  <a:pt x="1689794" y="2788083"/>
                  <a:pt x="1667618" y="2791584"/>
                </a:cubicBezTo>
                <a:cubicBezTo>
                  <a:pt x="1499228" y="2818172"/>
                  <a:pt x="1609487" y="2805528"/>
                  <a:pt x="1448543" y="2820159"/>
                </a:cubicBezTo>
                <a:cubicBezTo>
                  <a:pt x="1342888" y="2864182"/>
                  <a:pt x="1267076" y="2897639"/>
                  <a:pt x="1153268" y="2934459"/>
                </a:cubicBezTo>
                <a:cubicBezTo>
                  <a:pt x="1106372" y="2949631"/>
                  <a:pt x="1058018" y="2959859"/>
                  <a:pt x="1010393" y="2972559"/>
                </a:cubicBezTo>
                <a:cubicBezTo>
                  <a:pt x="919499" y="3040729"/>
                  <a:pt x="972989" y="3002962"/>
                  <a:pt x="791318" y="3105909"/>
                </a:cubicBezTo>
                <a:cubicBezTo>
                  <a:pt x="756706" y="3125522"/>
                  <a:pt x="720489" y="3142314"/>
                  <a:pt x="686543" y="3163059"/>
                </a:cubicBezTo>
                <a:cubicBezTo>
                  <a:pt x="629393" y="3197984"/>
                  <a:pt x="567393" y="3225994"/>
                  <a:pt x="515093" y="3267834"/>
                </a:cubicBezTo>
                <a:cubicBezTo>
                  <a:pt x="499218" y="3280534"/>
                  <a:pt x="481143" y="3290891"/>
                  <a:pt x="467468" y="3305934"/>
                </a:cubicBezTo>
                <a:cubicBezTo>
                  <a:pt x="449096" y="3326144"/>
                  <a:pt x="434993" y="3349884"/>
                  <a:pt x="419843" y="3372609"/>
                </a:cubicBezTo>
                <a:cubicBezTo>
                  <a:pt x="383033" y="3427824"/>
                  <a:pt x="375092" y="3455821"/>
                  <a:pt x="343643" y="3525009"/>
                </a:cubicBezTo>
                <a:cubicBezTo>
                  <a:pt x="337293" y="3563109"/>
                  <a:pt x="338008" y="3603088"/>
                  <a:pt x="324593" y="3639309"/>
                </a:cubicBezTo>
                <a:cubicBezTo>
                  <a:pt x="305847" y="3689924"/>
                  <a:pt x="271012" y="3733177"/>
                  <a:pt x="248393" y="3782184"/>
                </a:cubicBezTo>
                <a:cubicBezTo>
                  <a:pt x="213800" y="3857136"/>
                  <a:pt x="182128" y="3933490"/>
                  <a:pt x="153143" y="4010784"/>
                </a:cubicBezTo>
                <a:cubicBezTo>
                  <a:pt x="134455" y="4060618"/>
                  <a:pt x="118875" y="4111665"/>
                  <a:pt x="105518" y="4163184"/>
                </a:cubicBezTo>
                <a:cubicBezTo>
                  <a:pt x="91259" y="4218183"/>
                  <a:pt x="84114" y="4286791"/>
                  <a:pt x="76943" y="4344159"/>
                </a:cubicBezTo>
                <a:cubicBezTo>
                  <a:pt x="73768" y="4506084"/>
                  <a:pt x="76928" y="4668257"/>
                  <a:pt x="67418" y="4829934"/>
                </a:cubicBezTo>
                <a:cubicBezTo>
                  <a:pt x="64200" y="4884648"/>
                  <a:pt x="47177" y="4937687"/>
                  <a:pt x="38843" y="4991859"/>
                </a:cubicBezTo>
                <a:cubicBezTo>
                  <a:pt x="34471" y="5020276"/>
                  <a:pt x="32493" y="5049009"/>
                  <a:pt x="29318" y="5077584"/>
                </a:cubicBezTo>
                <a:cubicBezTo>
                  <a:pt x="22968" y="5391909"/>
                  <a:pt x="19162" y="5706296"/>
                  <a:pt x="10268" y="6020559"/>
                </a:cubicBezTo>
                <a:cubicBezTo>
                  <a:pt x="7795" y="6107948"/>
                  <a:pt x="-27314" y="6076011"/>
                  <a:pt x="48368" y="6106284"/>
                </a:cubicBezTo>
                <a:cubicBezTo>
                  <a:pt x="124568" y="6103109"/>
                  <a:pt x="201224" y="6105670"/>
                  <a:pt x="276968" y="6096759"/>
                </a:cubicBezTo>
                <a:cubicBezTo>
                  <a:pt x="309889" y="6092886"/>
                  <a:pt x="339758" y="6074900"/>
                  <a:pt x="372218" y="6068184"/>
                </a:cubicBezTo>
                <a:cubicBezTo>
                  <a:pt x="432024" y="6055810"/>
                  <a:pt x="492952" y="6049649"/>
                  <a:pt x="553193" y="6039609"/>
                </a:cubicBezTo>
                <a:cubicBezTo>
                  <a:pt x="588208" y="6033773"/>
                  <a:pt x="622553" y="6022974"/>
                  <a:pt x="657968" y="6020559"/>
                </a:cubicBezTo>
                <a:cubicBezTo>
                  <a:pt x="762548" y="6013429"/>
                  <a:pt x="867518" y="6014209"/>
                  <a:pt x="972293" y="6011034"/>
                </a:cubicBezTo>
                <a:lnTo>
                  <a:pt x="3496418" y="6030084"/>
                </a:lnTo>
                <a:cubicBezTo>
                  <a:pt x="3617104" y="6031279"/>
                  <a:pt x="3737691" y="6037709"/>
                  <a:pt x="3858368" y="6039609"/>
                </a:cubicBezTo>
                <a:lnTo>
                  <a:pt x="4706093" y="6049134"/>
                </a:lnTo>
                <a:lnTo>
                  <a:pt x="5125193" y="6039609"/>
                </a:lnTo>
                <a:cubicBezTo>
                  <a:pt x="5169730" y="6038073"/>
                  <a:pt x="5214586" y="6037410"/>
                  <a:pt x="5258543" y="6030084"/>
                </a:cubicBezTo>
                <a:cubicBezTo>
                  <a:pt x="5291240" y="6024635"/>
                  <a:pt x="5321570" y="6009287"/>
                  <a:pt x="5353793" y="6001509"/>
                </a:cubicBezTo>
                <a:cubicBezTo>
                  <a:pt x="5413719" y="5987044"/>
                  <a:pt x="5474443" y="5976109"/>
                  <a:pt x="5534768" y="5963409"/>
                </a:cubicBezTo>
                <a:cubicBezTo>
                  <a:pt x="5525415" y="5935350"/>
                  <a:pt x="5526397" y="5924096"/>
                  <a:pt x="5496668" y="5906259"/>
                </a:cubicBezTo>
                <a:cubicBezTo>
                  <a:pt x="5491223" y="5902992"/>
                  <a:pt x="5483968" y="5906259"/>
                  <a:pt x="5477618" y="5906259"/>
                </a:cubicBezTo>
              </a:path>
            </a:pathLst>
          </a:custGeom>
          <a:noFill/>
          <a:ln w="412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C84D57-F8E5-370D-FEE1-A89AC27870D0}"/>
              </a:ext>
            </a:extLst>
          </p:cNvPr>
          <p:cNvSpPr/>
          <p:nvPr/>
        </p:nvSpPr>
        <p:spPr>
          <a:xfrm>
            <a:off x="3114675" y="5409436"/>
            <a:ext cx="609600" cy="42938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263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20F0-11AC-9D42-BFE2-FB0738AEC65B}"/>
              </a:ext>
            </a:extLst>
          </p:cNvPr>
          <p:cNvSpPr>
            <a:spLocks noGrp="1"/>
          </p:cNvSpPr>
          <p:nvPr>
            <p:ph type="title"/>
          </p:nvPr>
        </p:nvSpPr>
        <p:spPr/>
        <p:txBody>
          <a:bodyPr/>
          <a:lstStyle/>
          <a:p>
            <a:pPr algn="ctr"/>
            <a:r>
              <a:rPr lang="en-US" b="1" dirty="0">
                <a:solidFill>
                  <a:srgbClr val="800000"/>
                </a:solidFill>
              </a:rPr>
              <a:t>OWL for Lossless Semantics</a:t>
            </a:r>
          </a:p>
        </p:txBody>
      </p:sp>
      <p:sp>
        <p:nvSpPr>
          <p:cNvPr id="3" name="Content Placeholder 2">
            <a:extLst>
              <a:ext uri="{FF2B5EF4-FFF2-40B4-BE49-F238E27FC236}">
                <a16:creationId xmlns:a16="http://schemas.microsoft.com/office/drawing/2014/main" id="{D0C2B3E7-8A6B-53BE-0C4B-1C471526C19A}"/>
              </a:ext>
            </a:extLst>
          </p:cNvPr>
          <p:cNvSpPr>
            <a:spLocks noGrp="1"/>
          </p:cNvSpPr>
          <p:nvPr>
            <p:ph idx="1"/>
          </p:nvPr>
        </p:nvSpPr>
        <p:spPr/>
        <p:txBody>
          <a:bodyPr>
            <a:normAutofit/>
          </a:bodyPr>
          <a:lstStyle/>
          <a:p>
            <a:pPr marL="0" indent="0">
              <a:buNone/>
            </a:pPr>
            <a:r>
              <a:rPr lang="en-US" sz="3600" dirty="0"/>
              <a:t>Install Stanford’s Protégé to view NGAME’s OWL renditions:</a:t>
            </a:r>
          </a:p>
          <a:p>
            <a:pPr lvl="1"/>
            <a:r>
              <a:rPr lang="en-US" sz="3200" dirty="0"/>
              <a:t>ACFE’s Fraud Taxonomy</a:t>
            </a:r>
          </a:p>
          <a:p>
            <a:pPr lvl="1"/>
            <a:r>
              <a:rPr lang="en-US" sz="3200" dirty="0"/>
              <a:t>Intuit’s out-of-the-box Chart of Accounts</a:t>
            </a:r>
          </a:p>
          <a:p>
            <a:pPr lvl="1"/>
            <a:r>
              <a:rPr lang="en-US" sz="3200" dirty="0"/>
              <a:t>Data behind NGAME’ s day-to-day Churn Picture :</a:t>
            </a:r>
          </a:p>
          <a:p>
            <a:pPr marL="0" indent="0" algn="ctr">
              <a:buNone/>
            </a:pPr>
            <a:r>
              <a:rPr lang="en-US" sz="3600" b="1" dirty="0">
                <a:hlinkClick r:id="rId3"/>
              </a:rPr>
              <a:t>https://protege.stanford.edu/software/</a:t>
            </a:r>
            <a:r>
              <a:rPr lang="en-US" sz="3600" b="1" dirty="0"/>
              <a:t> </a:t>
            </a:r>
          </a:p>
        </p:txBody>
      </p:sp>
    </p:spTree>
    <p:extLst>
      <p:ext uri="{BB962C8B-B14F-4D97-AF65-F5344CB8AC3E}">
        <p14:creationId xmlns:p14="http://schemas.microsoft.com/office/powerpoint/2010/main" val="255748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C7EC-3583-98DF-1D38-CB3E5C9E518F}"/>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36A73ED2-789A-8495-9006-B76FB852A19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6921" y="171450"/>
            <a:ext cx="11844580" cy="6303554"/>
          </a:xfrm>
        </p:spPr>
      </p:pic>
    </p:spTree>
    <p:extLst>
      <p:ext uri="{BB962C8B-B14F-4D97-AF65-F5344CB8AC3E}">
        <p14:creationId xmlns:p14="http://schemas.microsoft.com/office/powerpoint/2010/main" val="1726209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5275-0EA5-4BCD-755F-A60286D43751}"/>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41304332-B922-8B58-67D1-F90D9B91CBE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2125" y="268287"/>
            <a:ext cx="10642600" cy="6651626"/>
          </a:xfrm>
        </p:spPr>
      </p:pic>
    </p:spTree>
    <p:extLst>
      <p:ext uri="{BB962C8B-B14F-4D97-AF65-F5344CB8AC3E}">
        <p14:creationId xmlns:p14="http://schemas.microsoft.com/office/powerpoint/2010/main" val="185329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BD020-BB1D-37A3-16EF-25939382BB89}"/>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8BBE9E83-9B27-125E-C3B0-8DBCC2D1BD3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2187" y="365125"/>
            <a:ext cx="10255813" cy="6629400"/>
          </a:xfrm>
        </p:spPr>
      </p:pic>
    </p:spTree>
    <p:extLst>
      <p:ext uri="{BB962C8B-B14F-4D97-AF65-F5344CB8AC3E}">
        <p14:creationId xmlns:p14="http://schemas.microsoft.com/office/powerpoint/2010/main" val="3200764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05BE-A4B3-6E63-69F0-EF4B81A8E05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7130D5-C0B0-F4F6-7816-8DBA430FBC0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9294" y="257373"/>
            <a:ext cx="10149205" cy="6343254"/>
          </a:xfrm>
        </p:spPr>
      </p:pic>
    </p:spTree>
    <p:extLst>
      <p:ext uri="{BB962C8B-B14F-4D97-AF65-F5344CB8AC3E}">
        <p14:creationId xmlns:p14="http://schemas.microsoft.com/office/powerpoint/2010/main" val="2184506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A15E-DEA8-ECF3-15E7-B6FFC9472C15}"/>
              </a:ext>
            </a:extLst>
          </p:cNvPr>
          <p:cNvSpPr>
            <a:spLocks noGrp="1"/>
          </p:cNvSpPr>
          <p:nvPr>
            <p:ph type="title"/>
          </p:nvPr>
        </p:nvSpPr>
        <p:spPr/>
        <p:txBody>
          <a:bodyPr>
            <a:normAutofit/>
          </a:bodyPr>
          <a:lstStyle/>
          <a:p>
            <a:pPr algn="ctr"/>
            <a:r>
              <a:rPr lang="en-US" b="1" dirty="0">
                <a:solidFill>
                  <a:srgbClr val="800000"/>
                </a:solidFill>
              </a:rPr>
              <a:t>Warning to FRP: auto-texted notification</a:t>
            </a:r>
          </a:p>
        </p:txBody>
      </p:sp>
      <p:sp>
        <p:nvSpPr>
          <p:cNvPr id="3" name="Content Placeholder 2">
            <a:extLst>
              <a:ext uri="{FF2B5EF4-FFF2-40B4-BE49-F238E27FC236}">
                <a16:creationId xmlns:a16="http://schemas.microsoft.com/office/drawing/2014/main" id="{56896FB6-70AB-13F4-BCC5-BA47738D710A}"/>
              </a:ext>
            </a:extLst>
          </p:cNvPr>
          <p:cNvSpPr>
            <a:spLocks noGrp="1"/>
          </p:cNvSpPr>
          <p:nvPr>
            <p:ph idx="1"/>
          </p:nvPr>
        </p:nvSpPr>
        <p:spPr>
          <a:xfrm>
            <a:off x="838200" y="1811471"/>
            <a:ext cx="10515600" cy="4351338"/>
          </a:xfrm>
        </p:spPr>
        <p:txBody>
          <a:bodyPr/>
          <a:lstStyle/>
          <a:p>
            <a:pPr marL="0" marR="0" indent="0">
              <a:lnSpc>
                <a:spcPct val="150000"/>
              </a:lnSpc>
              <a:spcBef>
                <a:spcPts val="0"/>
              </a:spcBef>
              <a:spcAft>
                <a:spcPts val="0"/>
              </a:spcAft>
              <a:buNone/>
            </a:pPr>
            <a:r>
              <a:rPr lang="en-US" sz="1800" b="1" kern="100" dirty="0">
                <a:effectLst/>
                <a:latin typeface="American Typewriter"/>
                <a:ea typeface="Songti SC"/>
                <a:cs typeface="Arial Unicode MS"/>
              </a:rPr>
              <a:t>NGAME picture — HIGH</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 </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NGAME took the scheduled picture for 2026-10-20.</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Result: HIGH.</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Open the dashboard on the NGAME computer to read last run, last result, scheduled successes, and next scheduled.</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A quiet night does not send this message.</a:t>
            </a:r>
            <a:endParaRPr lang="en-US" sz="1800" kern="100" dirty="0">
              <a:effectLst/>
              <a:latin typeface="Liberation Serif"/>
              <a:ea typeface="Songti SC"/>
              <a:cs typeface="Arial Unicode MS"/>
            </a:endParaRPr>
          </a:p>
          <a:p>
            <a:pPr marL="0" marR="0" indent="0">
              <a:lnSpc>
                <a:spcPct val="150000"/>
              </a:lnSpc>
              <a:spcBef>
                <a:spcPts val="0"/>
              </a:spcBef>
              <a:spcAft>
                <a:spcPts val="0"/>
              </a:spcAft>
              <a:buNone/>
            </a:pPr>
            <a:r>
              <a:rPr lang="en-US" sz="1800" b="1" kern="100" dirty="0">
                <a:effectLst/>
                <a:latin typeface="American Typewriter"/>
                <a:ea typeface="Songti SC"/>
                <a:cs typeface="Arial Unicode MS"/>
              </a:rPr>
              <a:t>NGAME does not see every QuickBooks save. The Audit Log stays in QuickBooks.</a:t>
            </a:r>
            <a:endParaRPr lang="en-US" sz="1800" kern="100" dirty="0">
              <a:effectLst/>
              <a:latin typeface="Liberation Serif"/>
              <a:ea typeface="Songti SC"/>
              <a:cs typeface="Arial Unicode MS"/>
            </a:endParaRPr>
          </a:p>
          <a:p>
            <a:pPr marL="0" indent="0">
              <a:buNone/>
            </a:pPr>
            <a:endParaRPr lang="en-US" dirty="0"/>
          </a:p>
        </p:txBody>
      </p:sp>
    </p:spTree>
    <p:extLst>
      <p:ext uri="{BB962C8B-B14F-4D97-AF65-F5344CB8AC3E}">
        <p14:creationId xmlns:p14="http://schemas.microsoft.com/office/powerpoint/2010/main" val="3176229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C49B-3922-9985-DF2E-06DB830AE8A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20D32B1-EB80-121A-398B-E801B1BC38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9889" y="140277"/>
            <a:ext cx="10523911" cy="6577445"/>
          </a:xfrm>
        </p:spPr>
      </p:pic>
    </p:spTree>
    <p:extLst>
      <p:ext uri="{BB962C8B-B14F-4D97-AF65-F5344CB8AC3E}">
        <p14:creationId xmlns:p14="http://schemas.microsoft.com/office/powerpoint/2010/main" val="53793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DE8C-348D-A93C-43CF-81E38ECF2F4A}"/>
              </a:ext>
            </a:extLst>
          </p:cNvPr>
          <p:cNvSpPr>
            <a:spLocks noGrp="1"/>
          </p:cNvSpPr>
          <p:nvPr>
            <p:ph type="title"/>
          </p:nvPr>
        </p:nvSpPr>
        <p:spPr>
          <a:xfrm>
            <a:off x="838200" y="-355312"/>
            <a:ext cx="10515600" cy="1325563"/>
          </a:xfrm>
        </p:spPr>
        <p:txBody>
          <a:bodyPr/>
          <a:lstStyle/>
          <a:p>
            <a:pPr algn="ctr"/>
            <a:r>
              <a:rPr lang="en-US" b="1" dirty="0">
                <a:solidFill>
                  <a:srgbClr val="800000"/>
                </a:solidFill>
              </a:rPr>
              <a:t>Churn Warning</a:t>
            </a:r>
          </a:p>
        </p:txBody>
      </p:sp>
      <p:pic>
        <p:nvPicPr>
          <p:cNvPr id="8" name="Content Placeholder 7">
            <a:extLst>
              <a:ext uri="{FF2B5EF4-FFF2-40B4-BE49-F238E27FC236}">
                <a16:creationId xmlns:a16="http://schemas.microsoft.com/office/drawing/2014/main" id="{E42C65E1-0B9F-BD7C-0C36-10F0D558151D}"/>
              </a:ext>
            </a:extLst>
          </p:cNvPr>
          <p:cNvPicPr>
            <a:picLocks noGrp="1" noChangeAspect="1"/>
          </p:cNvPicPr>
          <p:nvPr>
            <p:ph idx="1"/>
          </p:nvPr>
        </p:nvPicPr>
        <p:blipFill>
          <a:blip r:embed="rId2"/>
          <a:stretch>
            <a:fillRect/>
          </a:stretch>
        </p:blipFill>
        <p:spPr>
          <a:xfrm>
            <a:off x="1746610" y="568037"/>
            <a:ext cx="8698780" cy="6139353"/>
          </a:xfrm>
        </p:spPr>
      </p:pic>
    </p:spTree>
    <p:extLst>
      <p:ext uri="{BB962C8B-B14F-4D97-AF65-F5344CB8AC3E}">
        <p14:creationId xmlns:p14="http://schemas.microsoft.com/office/powerpoint/2010/main" val="3845852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82D7-4B65-171D-9C8A-594ADCA5C168}"/>
              </a:ext>
            </a:extLst>
          </p:cNvPr>
          <p:cNvSpPr>
            <a:spLocks noGrp="1"/>
          </p:cNvSpPr>
          <p:nvPr>
            <p:ph type="title"/>
          </p:nvPr>
        </p:nvSpPr>
        <p:spPr>
          <a:xfrm>
            <a:off x="838200" y="-327602"/>
            <a:ext cx="10515600" cy="1325563"/>
          </a:xfrm>
        </p:spPr>
        <p:txBody>
          <a:bodyPr/>
          <a:lstStyle/>
          <a:p>
            <a:pPr algn="ctr"/>
            <a:r>
              <a:rPr lang="en-US" b="1" dirty="0">
                <a:solidFill>
                  <a:srgbClr val="800000"/>
                </a:solidFill>
              </a:rPr>
              <a:t>Credit card warning</a:t>
            </a:r>
          </a:p>
        </p:txBody>
      </p:sp>
      <p:pic>
        <p:nvPicPr>
          <p:cNvPr id="5" name="Content Placeholder 4">
            <a:extLst>
              <a:ext uri="{FF2B5EF4-FFF2-40B4-BE49-F238E27FC236}">
                <a16:creationId xmlns:a16="http://schemas.microsoft.com/office/drawing/2014/main" id="{809A5600-785D-1764-1A61-643DB7C4B4B8}"/>
              </a:ext>
            </a:extLst>
          </p:cNvPr>
          <p:cNvPicPr>
            <a:picLocks noGrp="1" noChangeAspect="1"/>
          </p:cNvPicPr>
          <p:nvPr>
            <p:ph idx="1"/>
          </p:nvPr>
        </p:nvPicPr>
        <p:blipFill>
          <a:blip r:embed="rId2"/>
          <a:stretch>
            <a:fillRect/>
          </a:stretch>
        </p:blipFill>
        <p:spPr>
          <a:xfrm>
            <a:off x="1815882" y="609600"/>
            <a:ext cx="8560235" cy="6041572"/>
          </a:xfrm>
        </p:spPr>
      </p:pic>
    </p:spTree>
    <p:extLst>
      <p:ext uri="{BB962C8B-B14F-4D97-AF65-F5344CB8AC3E}">
        <p14:creationId xmlns:p14="http://schemas.microsoft.com/office/powerpoint/2010/main" val="841227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906A-A634-1611-01D1-E95F9D2AA02C}"/>
              </a:ext>
            </a:extLst>
          </p:cNvPr>
          <p:cNvSpPr>
            <a:spLocks noGrp="1"/>
          </p:cNvSpPr>
          <p:nvPr>
            <p:ph type="title"/>
          </p:nvPr>
        </p:nvSpPr>
        <p:spPr>
          <a:xfrm>
            <a:off x="658091" y="-299894"/>
            <a:ext cx="10515600" cy="1325563"/>
          </a:xfrm>
        </p:spPr>
        <p:txBody>
          <a:bodyPr/>
          <a:lstStyle/>
          <a:p>
            <a:pPr algn="ctr"/>
            <a:r>
              <a:rPr lang="en-US" b="1" dirty="0">
                <a:solidFill>
                  <a:srgbClr val="800000"/>
                </a:solidFill>
              </a:rPr>
              <a:t>Multi-Day Alert</a:t>
            </a:r>
          </a:p>
        </p:txBody>
      </p:sp>
      <p:pic>
        <p:nvPicPr>
          <p:cNvPr id="5" name="Content Placeholder 4">
            <a:extLst>
              <a:ext uri="{FF2B5EF4-FFF2-40B4-BE49-F238E27FC236}">
                <a16:creationId xmlns:a16="http://schemas.microsoft.com/office/drawing/2014/main" id="{0EE159DE-0EA4-9540-D5A0-58CD4D4ED94F}"/>
              </a:ext>
            </a:extLst>
          </p:cNvPr>
          <p:cNvPicPr>
            <a:picLocks noGrp="1" noChangeAspect="1"/>
          </p:cNvPicPr>
          <p:nvPr>
            <p:ph idx="1"/>
          </p:nvPr>
        </p:nvPicPr>
        <p:blipFill>
          <a:blip r:embed="rId2"/>
          <a:stretch>
            <a:fillRect/>
          </a:stretch>
        </p:blipFill>
        <p:spPr>
          <a:xfrm>
            <a:off x="1812994" y="637309"/>
            <a:ext cx="8566011" cy="6045648"/>
          </a:xfrm>
        </p:spPr>
      </p:pic>
    </p:spTree>
    <p:extLst>
      <p:ext uri="{BB962C8B-B14F-4D97-AF65-F5344CB8AC3E}">
        <p14:creationId xmlns:p14="http://schemas.microsoft.com/office/powerpoint/2010/main" val="2723562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EB4E4-02FB-546F-1C24-6D6372482789}"/>
              </a:ext>
            </a:extLst>
          </p:cNvPr>
          <p:cNvSpPr>
            <a:spLocks noGrp="1"/>
          </p:cNvSpPr>
          <p:nvPr>
            <p:ph type="title"/>
          </p:nvPr>
        </p:nvSpPr>
        <p:spPr>
          <a:xfrm>
            <a:off x="838200" y="-249382"/>
            <a:ext cx="10515600" cy="1325563"/>
          </a:xfrm>
        </p:spPr>
        <p:txBody>
          <a:bodyPr/>
          <a:lstStyle/>
          <a:p>
            <a:pPr algn="ctr"/>
            <a:r>
              <a:rPr lang="en-US" b="1" dirty="0">
                <a:solidFill>
                  <a:srgbClr val="800000"/>
                </a:solidFill>
              </a:rPr>
              <a:t>Vendors Alert</a:t>
            </a:r>
          </a:p>
        </p:txBody>
      </p:sp>
      <p:pic>
        <p:nvPicPr>
          <p:cNvPr id="5" name="Content Placeholder 4">
            <a:extLst>
              <a:ext uri="{FF2B5EF4-FFF2-40B4-BE49-F238E27FC236}">
                <a16:creationId xmlns:a16="http://schemas.microsoft.com/office/drawing/2014/main" id="{3E5B1CFA-CF28-FB56-2246-BFE21A767578}"/>
              </a:ext>
            </a:extLst>
          </p:cNvPr>
          <p:cNvPicPr>
            <a:picLocks noGrp="1" noChangeAspect="1"/>
          </p:cNvPicPr>
          <p:nvPr>
            <p:ph idx="1"/>
          </p:nvPr>
        </p:nvPicPr>
        <p:blipFill>
          <a:blip r:embed="rId2"/>
          <a:stretch>
            <a:fillRect/>
          </a:stretch>
        </p:blipFill>
        <p:spPr>
          <a:xfrm>
            <a:off x="1793949" y="665018"/>
            <a:ext cx="8604102" cy="6072531"/>
          </a:xfrm>
        </p:spPr>
      </p:pic>
    </p:spTree>
    <p:extLst>
      <p:ext uri="{BB962C8B-B14F-4D97-AF65-F5344CB8AC3E}">
        <p14:creationId xmlns:p14="http://schemas.microsoft.com/office/powerpoint/2010/main" val="2028479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EF04-C0BD-3C43-DDF6-6B793842F518}"/>
              </a:ext>
            </a:extLst>
          </p:cNvPr>
          <p:cNvSpPr>
            <a:spLocks noGrp="1"/>
          </p:cNvSpPr>
          <p:nvPr>
            <p:ph type="title"/>
          </p:nvPr>
        </p:nvSpPr>
        <p:spPr>
          <a:xfrm>
            <a:off x="871075" y="-335758"/>
            <a:ext cx="10515600" cy="1325563"/>
          </a:xfrm>
        </p:spPr>
        <p:txBody>
          <a:bodyPr/>
          <a:lstStyle/>
          <a:p>
            <a:pPr algn="ctr"/>
            <a:r>
              <a:rPr lang="en-US" b="1" dirty="0">
                <a:solidFill>
                  <a:srgbClr val="800000"/>
                </a:solidFill>
              </a:rPr>
              <a:t>Agent-Driven Architecture</a:t>
            </a:r>
          </a:p>
        </p:txBody>
      </p:sp>
      <p:pic>
        <p:nvPicPr>
          <p:cNvPr id="5" name="Content Placeholder 4">
            <a:extLst>
              <a:ext uri="{FF2B5EF4-FFF2-40B4-BE49-F238E27FC236}">
                <a16:creationId xmlns:a16="http://schemas.microsoft.com/office/drawing/2014/main" id="{107AE7C9-81EC-BDFB-F4FC-3BDD1BBB81B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847" t="3685" r="1045" b="3685"/>
          <a:stretch/>
        </p:blipFill>
        <p:spPr>
          <a:xfrm>
            <a:off x="16437" y="564718"/>
            <a:ext cx="12159125" cy="6166753"/>
          </a:xfrm>
          <a:ln>
            <a:noFill/>
          </a:ln>
        </p:spPr>
      </p:pic>
      <p:grpSp>
        <p:nvGrpSpPr>
          <p:cNvPr id="3" name="Group 2">
            <a:extLst>
              <a:ext uri="{FF2B5EF4-FFF2-40B4-BE49-F238E27FC236}">
                <a16:creationId xmlns:a16="http://schemas.microsoft.com/office/drawing/2014/main" id="{E3601A8A-DB9C-8F53-BABE-77CFA2ED3EBE}"/>
              </a:ext>
            </a:extLst>
          </p:cNvPr>
          <p:cNvGrpSpPr/>
          <p:nvPr/>
        </p:nvGrpSpPr>
        <p:grpSpPr>
          <a:xfrm>
            <a:off x="368012" y="1551444"/>
            <a:ext cx="10113644" cy="3755112"/>
            <a:chOff x="409575" y="1690688"/>
            <a:chExt cx="10113644" cy="3755112"/>
          </a:xfrm>
        </p:grpSpPr>
        <p:sp>
          <p:nvSpPr>
            <p:cNvPr id="6" name="Rectangle 5">
              <a:extLst>
                <a:ext uri="{FF2B5EF4-FFF2-40B4-BE49-F238E27FC236}">
                  <a16:creationId xmlns:a16="http://schemas.microsoft.com/office/drawing/2014/main" id="{9A1B7BDD-801E-2F25-48E1-48C2D0D4C8BE}"/>
                </a:ext>
              </a:extLst>
            </p:cNvPr>
            <p:cNvSpPr/>
            <p:nvPr/>
          </p:nvSpPr>
          <p:spPr>
            <a:xfrm>
              <a:off x="838200" y="1690688"/>
              <a:ext cx="2257425" cy="24288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4FBD039-E4C8-B9B4-FEFA-73D5EDAC64B0}"/>
                </a:ext>
              </a:extLst>
            </p:cNvPr>
            <p:cNvSpPr/>
            <p:nvPr/>
          </p:nvSpPr>
          <p:spPr>
            <a:xfrm>
              <a:off x="685800" y="1933575"/>
              <a:ext cx="2828925" cy="24288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11A79B3-D085-F5C4-A72A-2E57F77BAADC}"/>
                </a:ext>
              </a:extLst>
            </p:cNvPr>
            <p:cNvSpPr/>
            <p:nvPr/>
          </p:nvSpPr>
          <p:spPr>
            <a:xfrm>
              <a:off x="1343025" y="4133850"/>
              <a:ext cx="2171700" cy="24288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F0EC63A-2BBC-1F36-99A0-5D31282E9526}"/>
                </a:ext>
              </a:extLst>
            </p:cNvPr>
            <p:cNvSpPr/>
            <p:nvPr/>
          </p:nvSpPr>
          <p:spPr>
            <a:xfrm>
              <a:off x="409575" y="4345780"/>
              <a:ext cx="2305050" cy="24288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AA6D1C-105F-2908-A7A8-D456A7AB9136}"/>
                </a:ext>
              </a:extLst>
            </p:cNvPr>
            <p:cNvSpPr/>
            <p:nvPr/>
          </p:nvSpPr>
          <p:spPr>
            <a:xfrm>
              <a:off x="685800" y="4598089"/>
              <a:ext cx="1800225" cy="20250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14CDD9-77FC-3ABE-6A2E-369A124F018B}"/>
                </a:ext>
              </a:extLst>
            </p:cNvPr>
            <p:cNvSpPr/>
            <p:nvPr/>
          </p:nvSpPr>
          <p:spPr>
            <a:xfrm>
              <a:off x="472440" y="4800594"/>
              <a:ext cx="2013585"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714382-256A-C751-F3C3-84257C9D2C98}"/>
                </a:ext>
              </a:extLst>
            </p:cNvPr>
            <p:cNvSpPr/>
            <p:nvPr/>
          </p:nvSpPr>
          <p:spPr>
            <a:xfrm>
              <a:off x="790574" y="5021946"/>
              <a:ext cx="2432685"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70A8BB1-BD85-8B3D-10DA-B55058F5398A}"/>
                </a:ext>
              </a:extLst>
            </p:cNvPr>
            <p:cNvSpPr/>
            <p:nvPr/>
          </p:nvSpPr>
          <p:spPr>
            <a:xfrm>
              <a:off x="733425" y="5233873"/>
              <a:ext cx="2718435"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9E573C-EC64-631B-188A-E36896ACD657}"/>
                </a:ext>
              </a:extLst>
            </p:cNvPr>
            <p:cNvSpPr/>
            <p:nvPr/>
          </p:nvSpPr>
          <p:spPr>
            <a:xfrm>
              <a:off x="8159114" y="4168380"/>
              <a:ext cx="2305051"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96B1F93-9B6E-66AD-0B09-5EA25E0DF02E}"/>
                </a:ext>
              </a:extLst>
            </p:cNvPr>
            <p:cNvSpPr/>
            <p:nvPr/>
          </p:nvSpPr>
          <p:spPr>
            <a:xfrm>
              <a:off x="7673340" y="4379597"/>
              <a:ext cx="1897379"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2577-243E-18B6-20EC-C3EA7535549C}"/>
                </a:ext>
              </a:extLst>
            </p:cNvPr>
            <p:cNvSpPr/>
            <p:nvPr/>
          </p:nvSpPr>
          <p:spPr>
            <a:xfrm>
              <a:off x="8090534" y="4810019"/>
              <a:ext cx="2432685"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A44DD3D-E761-7147-5599-4D733FC3549C}"/>
                </a:ext>
              </a:extLst>
            </p:cNvPr>
            <p:cNvSpPr/>
            <p:nvPr/>
          </p:nvSpPr>
          <p:spPr>
            <a:xfrm>
              <a:off x="6724650" y="5011713"/>
              <a:ext cx="2716530" cy="21192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41211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69EC-0C0F-ADC7-686B-F739625B5F35}"/>
              </a:ext>
            </a:extLst>
          </p:cNvPr>
          <p:cNvSpPr>
            <a:spLocks noGrp="1"/>
          </p:cNvSpPr>
          <p:nvPr>
            <p:ph type="title"/>
          </p:nvPr>
        </p:nvSpPr>
        <p:spPr>
          <a:xfrm>
            <a:off x="439387" y="365125"/>
            <a:ext cx="11266838" cy="743239"/>
          </a:xfrm>
        </p:spPr>
        <p:txBody>
          <a:bodyPr/>
          <a:lstStyle/>
          <a:p>
            <a:r>
              <a:rPr lang="en-US" b="1" dirty="0">
                <a:solidFill>
                  <a:srgbClr val="800000"/>
                </a:solidFill>
              </a:rPr>
              <a:t>Training: 30-Day Baseline of Transaction Churn</a:t>
            </a:r>
          </a:p>
        </p:txBody>
      </p:sp>
      <p:pic>
        <p:nvPicPr>
          <p:cNvPr id="5" name="Content Placeholder 4">
            <a:extLst>
              <a:ext uri="{FF2B5EF4-FFF2-40B4-BE49-F238E27FC236}">
                <a16:creationId xmlns:a16="http://schemas.microsoft.com/office/drawing/2014/main" id="{FA1DEF58-119C-0F5E-CB2B-925314903B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90" y="2137558"/>
            <a:ext cx="12063064" cy="3303674"/>
          </a:xfrm>
        </p:spPr>
      </p:pic>
    </p:spTree>
    <p:extLst>
      <p:ext uri="{BB962C8B-B14F-4D97-AF65-F5344CB8AC3E}">
        <p14:creationId xmlns:p14="http://schemas.microsoft.com/office/powerpoint/2010/main" val="3279907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7FA4-1F9F-B988-6DA4-E95E8D1675A8}"/>
              </a:ext>
            </a:extLst>
          </p:cNvPr>
          <p:cNvSpPr>
            <a:spLocks noGrp="1"/>
          </p:cNvSpPr>
          <p:nvPr>
            <p:ph type="title"/>
          </p:nvPr>
        </p:nvSpPr>
        <p:spPr>
          <a:xfrm>
            <a:off x="838200" y="-5689"/>
            <a:ext cx="10515600" cy="576811"/>
          </a:xfrm>
        </p:spPr>
        <p:txBody>
          <a:bodyPr>
            <a:normAutofit fontScale="90000"/>
          </a:bodyPr>
          <a:lstStyle/>
          <a:p>
            <a:pPr algn="ctr"/>
            <a:r>
              <a:rPr lang="en-US" b="1" dirty="0">
                <a:solidFill>
                  <a:srgbClr val="800000"/>
                </a:solidFill>
              </a:rPr>
              <a:t>Training Matrix</a:t>
            </a:r>
          </a:p>
        </p:txBody>
      </p:sp>
      <p:pic>
        <p:nvPicPr>
          <p:cNvPr id="5" name="Content Placeholder 4">
            <a:extLst>
              <a:ext uri="{FF2B5EF4-FFF2-40B4-BE49-F238E27FC236}">
                <a16:creationId xmlns:a16="http://schemas.microsoft.com/office/drawing/2014/main" id="{FAF2BCD0-5435-50D0-67D1-2059C580F6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19750" y="3525044"/>
            <a:ext cx="952500" cy="952500"/>
          </a:xfrm>
        </p:spPr>
      </p:pic>
      <p:pic>
        <p:nvPicPr>
          <p:cNvPr id="7" name="Picture 6">
            <a:extLst>
              <a:ext uri="{FF2B5EF4-FFF2-40B4-BE49-F238E27FC236}">
                <a16:creationId xmlns:a16="http://schemas.microsoft.com/office/drawing/2014/main" id="{18296E06-2E21-FC06-BA29-8D61BFEBDD7F}"/>
              </a:ext>
            </a:extLst>
          </p:cNvPr>
          <p:cNvPicPr>
            <a:picLocks noChangeAspect="1"/>
          </p:cNvPicPr>
          <p:nvPr/>
        </p:nvPicPr>
        <p:blipFill>
          <a:blip r:embed="rId4">
            <a:extLst>
              <a:ext uri="{28A0092B-C50C-407E-A947-70E740481C1C}">
                <a14:useLocalDpi xmlns:a14="http://schemas.microsoft.com/office/drawing/2010/main" val="0"/>
              </a:ext>
            </a:extLst>
          </a:blip>
          <a:srcRect l="27977" t="21217" r="12231" b="26493"/>
          <a:stretch/>
        </p:blipFill>
        <p:spPr>
          <a:xfrm>
            <a:off x="1297202" y="728604"/>
            <a:ext cx="10351457" cy="5977603"/>
          </a:xfrm>
          <a:prstGeom prst="rect">
            <a:avLst/>
          </a:prstGeom>
        </p:spPr>
      </p:pic>
      <p:sp>
        <p:nvSpPr>
          <p:cNvPr id="9" name="Rectangle 8">
            <a:extLst>
              <a:ext uri="{FF2B5EF4-FFF2-40B4-BE49-F238E27FC236}">
                <a16:creationId xmlns:a16="http://schemas.microsoft.com/office/drawing/2014/main" id="{A324949E-F5D5-38E9-8242-B925A844256C}"/>
              </a:ext>
            </a:extLst>
          </p:cNvPr>
          <p:cNvSpPr/>
          <p:nvPr/>
        </p:nvSpPr>
        <p:spPr>
          <a:xfrm>
            <a:off x="2992582" y="728603"/>
            <a:ext cx="2731942" cy="597760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3296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189ED-B697-6219-7820-45D56269C2C9}"/>
              </a:ext>
            </a:extLst>
          </p:cNvPr>
          <p:cNvSpPr>
            <a:spLocks noGrp="1"/>
          </p:cNvSpPr>
          <p:nvPr>
            <p:ph type="title"/>
          </p:nvPr>
        </p:nvSpPr>
        <p:spPr>
          <a:xfrm>
            <a:off x="838200" y="240434"/>
            <a:ext cx="10515600" cy="895639"/>
          </a:xfrm>
        </p:spPr>
        <p:txBody>
          <a:bodyPr/>
          <a:lstStyle/>
          <a:p>
            <a:pPr algn="ctr"/>
            <a:r>
              <a:rPr lang="en-US" b="1" dirty="0">
                <a:solidFill>
                  <a:srgbClr val="800000"/>
                </a:solidFill>
              </a:rPr>
              <a:t>Anomaly Detection: Unusual Churn(s) </a:t>
            </a:r>
          </a:p>
        </p:txBody>
      </p:sp>
      <p:pic>
        <p:nvPicPr>
          <p:cNvPr id="5" name="Content Placeholder 4">
            <a:extLst>
              <a:ext uri="{FF2B5EF4-FFF2-40B4-BE49-F238E27FC236}">
                <a16:creationId xmlns:a16="http://schemas.microsoft.com/office/drawing/2014/main" id="{792E0C56-A2AB-4BCD-A312-07A3652062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35" y="1603169"/>
            <a:ext cx="11969714" cy="4276705"/>
          </a:xfrm>
        </p:spPr>
      </p:pic>
    </p:spTree>
    <p:extLst>
      <p:ext uri="{BB962C8B-B14F-4D97-AF65-F5344CB8AC3E}">
        <p14:creationId xmlns:p14="http://schemas.microsoft.com/office/powerpoint/2010/main" val="3064206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5FF6C-59BF-E301-A9A4-4464B5DB126C}"/>
              </a:ext>
            </a:extLst>
          </p:cNvPr>
          <p:cNvSpPr>
            <a:spLocks noGrp="1"/>
          </p:cNvSpPr>
          <p:nvPr>
            <p:ph type="title"/>
          </p:nvPr>
        </p:nvSpPr>
        <p:spPr>
          <a:xfrm>
            <a:off x="0" y="107950"/>
            <a:ext cx="11906249" cy="626341"/>
          </a:xfrm>
        </p:spPr>
        <p:txBody>
          <a:bodyPr>
            <a:normAutofit fontScale="90000"/>
          </a:bodyPr>
          <a:lstStyle/>
          <a:p>
            <a:pPr algn="ctr"/>
            <a:r>
              <a:rPr lang="en-US" b="1" dirty="0">
                <a:solidFill>
                  <a:srgbClr val="800000"/>
                </a:solidFill>
              </a:rPr>
              <a:t>Fraud Detection: Possible Asset Misappropriation</a:t>
            </a:r>
          </a:p>
        </p:txBody>
      </p:sp>
      <p:pic>
        <p:nvPicPr>
          <p:cNvPr id="9" name="Content Placeholder 8">
            <a:extLst>
              <a:ext uri="{FF2B5EF4-FFF2-40B4-BE49-F238E27FC236}">
                <a16:creationId xmlns:a16="http://schemas.microsoft.com/office/drawing/2014/main" id="{F63205A8-B7B3-40D5-A402-F2B73EFC6A3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61334" y="623665"/>
            <a:ext cx="9269332" cy="6126385"/>
          </a:xfrm>
        </p:spPr>
      </p:pic>
    </p:spTree>
    <p:extLst>
      <p:ext uri="{BB962C8B-B14F-4D97-AF65-F5344CB8AC3E}">
        <p14:creationId xmlns:p14="http://schemas.microsoft.com/office/powerpoint/2010/main" val="1741751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48FDDC-83AB-F533-4AC1-6DC1AAAC3329}"/>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360218" y="74469"/>
            <a:ext cx="11640896" cy="6548004"/>
          </a:xfrm>
        </p:spPr>
      </p:pic>
    </p:spTree>
    <p:extLst>
      <p:ext uri="{BB962C8B-B14F-4D97-AF65-F5344CB8AC3E}">
        <p14:creationId xmlns:p14="http://schemas.microsoft.com/office/powerpoint/2010/main" val="1009486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5B85D-5072-6299-EFF5-203DFF9AD273}"/>
              </a:ext>
            </a:extLst>
          </p:cNvPr>
          <p:cNvSpPr>
            <a:spLocks noGrp="1"/>
          </p:cNvSpPr>
          <p:nvPr>
            <p:ph type="title"/>
          </p:nvPr>
        </p:nvSpPr>
        <p:spPr>
          <a:xfrm>
            <a:off x="838200" y="-272184"/>
            <a:ext cx="10515600" cy="1325563"/>
          </a:xfrm>
        </p:spPr>
        <p:txBody>
          <a:bodyPr/>
          <a:lstStyle/>
          <a:p>
            <a:pPr algn="ctr"/>
            <a:r>
              <a:rPr lang="en-US" b="1" dirty="0">
                <a:solidFill>
                  <a:srgbClr val="800000"/>
                </a:solidFill>
              </a:rPr>
              <a:t>Filling the Jaccard boxes</a:t>
            </a:r>
          </a:p>
        </p:txBody>
      </p:sp>
      <p:pic>
        <p:nvPicPr>
          <p:cNvPr id="9" name="Content Placeholder 8">
            <a:extLst>
              <a:ext uri="{FF2B5EF4-FFF2-40B4-BE49-F238E27FC236}">
                <a16:creationId xmlns:a16="http://schemas.microsoft.com/office/drawing/2014/main" id="{3C8F754C-7B42-AD22-9B57-AA6D8682FAE9}"/>
              </a:ext>
            </a:extLst>
          </p:cNvPr>
          <p:cNvPicPr>
            <a:picLocks noGrp="1" noChangeAspect="1"/>
          </p:cNvPicPr>
          <p:nvPr>
            <p:ph idx="1"/>
          </p:nvPr>
        </p:nvPicPr>
        <p:blipFill>
          <a:blip r:embed="rId2"/>
          <a:srcRect l="1005" t="12451" r="1095" b="-574"/>
          <a:stretch/>
        </p:blipFill>
        <p:spPr>
          <a:xfrm>
            <a:off x="468421" y="734074"/>
            <a:ext cx="11255157" cy="6123926"/>
          </a:xfrm>
        </p:spPr>
      </p:pic>
    </p:spTree>
    <p:extLst>
      <p:ext uri="{BB962C8B-B14F-4D97-AF65-F5344CB8AC3E}">
        <p14:creationId xmlns:p14="http://schemas.microsoft.com/office/powerpoint/2010/main" val="3515289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ED75-CE84-0DEA-1F34-324340A636C1}"/>
              </a:ext>
            </a:extLst>
          </p:cNvPr>
          <p:cNvSpPr>
            <a:spLocks noGrp="1"/>
          </p:cNvSpPr>
          <p:nvPr>
            <p:ph type="title"/>
          </p:nvPr>
        </p:nvSpPr>
        <p:spPr>
          <a:xfrm>
            <a:off x="962891" y="-341457"/>
            <a:ext cx="10515600" cy="1325563"/>
          </a:xfrm>
        </p:spPr>
        <p:txBody>
          <a:bodyPr/>
          <a:lstStyle/>
          <a:p>
            <a:pPr algn="ctr"/>
            <a:r>
              <a:rPr lang="en-US" b="1" dirty="0">
                <a:solidFill>
                  <a:srgbClr val="800000"/>
                </a:solidFill>
              </a:rPr>
              <a:t>Ghost vendor activity</a:t>
            </a:r>
          </a:p>
        </p:txBody>
      </p:sp>
      <p:pic>
        <p:nvPicPr>
          <p:cNvPr id="5" name="Content Placeholder 4">
            <a:extLst>
              <a:ext uri="{FF2B5EF4-FFF2-40B4-BE49-F238E27FC236}">
                <a16:creationId xmlns:a16="http://schemas.microsoft.com/office/drawing/2014/main" id="{44CB8114-4B1D-AD9B-4D8E-1AC471EC2E5F}"/>
              </a:ext>
            </a:extLst>
          </p:cNvPr>
          <p:cNvPicPr>
            <a:picLocks noGrp="1" noChangeAspect="1"/>
          </p:cNvPicPr>
          <p:nvPr>
            <p:ph idx="1"/>
          </p:nvPr>
        </p:nvPicPr>
        <p:blipFill>
          <a:blip r:embed="rId2"/>
          <a:srcRect l="907" t="12660" r="1943" b="2194"/>
          <a:stretch/>
        </p:blipFill>
        <p:spPr>
          <a:xfrm>
            <a:off x="372608" y="598549"/>
            <a:ext cx="11446783" cy="6134760"/>
          </a:xfrm>
        </p:spPr>
      </p:pic>
    </p:spTree>
    <p:extLst>
      <p:ext uri="{BB962C8B-B14F-4D97-AF65-F5344CB8AC3E}">
        <p14:creationId xmlns:p14="http://schemas.microsoft.com/office/powerpoint/2010/main" val="2148849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4CFD-441F-3C80-4F18-599340004520}"/>
              </a:ext>
            </a:extLst>
          </p:cNvPr>
          <p:cNvSpPr>
            <a:spLocks noGrp="1"/>
          </p:cNvSpPr>
          <p:nvPr>
            <p:ph type="title"/>
          </p:nvPr>
        </p:nvSpPr>
        <p:spPr>
          <a:xfrm>
            <a:off x="696191" y="18255"/>
            <a:ext cx="11049000" cy="662782"/>
          </a:xfrm>
        </p:spPr>
        <p:txBody>
          <a:bodyPr>
            <a:normAutofit fontScale="90000"/>
          </a:bodyPr>
          <a:lstStyle/>
          <a:p>
            <a:r>
              <a:rPr lang="en-US" b="1" dirty="0">
                <a:solidFill>
                  <a:srgbClr val="800000"/>
                </a:solidFill>
              </a:rPr>
              <a:t>Calculating the Churn Persistence Index (CPI)</a:t>
            </a:r>
          </a:p>
        </p:txBody>
      </p:sp>
      <p:pic>
        <p:nvPicPr>
          <p:cNvPr id="5" name="Content Placeholder 4">
            <a:extLst>
              <a:ext uri="{FF2B5EF4-FFF2-40B4-BE49-F238E27FC236}">
                <a16:creationId xmlns:a16="http://schemas.microsoft.com/office/drawing/2014/main" id="{104E123E-164D-70D0-EC0C-EB0B7F9595CD}"/>
              </a:ext>
            </a:extLst>
          </p:cNvPr>
          <p:cNvPicPr>
            <a:picLocks noGrp="1" noChangeAspect="1"/>
          </p:cNvPicPr>
          <p:nvPr>
            <p:ph idx="1"/>
          </p:nvPr>
        </p:nvPicPr>
        <p:blipFill>
          <a:blip r:embed="rId3"/>
          <a:srcRect l="923" t="17266" r="2078" b="3134"/>
          <a:stretch/>
        </p:blipFill>
        <p:spPr>
          <a:xfrm>
            <a:off x="86085" y="681037"/>
            <a:ext cx="12019829" cy="5962218"/>
          </a:xfrm>
        </p:spPr>
      </p:pic>
    </p:spTree>
    <p:extLst>
      <p:ext uri="{BB962C8B-B14F-4D97-AF65-F5344CB8AC3E}">
        <p14:creationId xmlns:p14="http://schemas.microsoft.com/office/powerpoint/2010/main" val="2319662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71ED-0C0B-C675-F357-D6E0E3BBAD81}"/>
              </a:ext>
            </a:extLst>
          </p:cNvPr>
          <p:cNvSpPr>
            <a:spLocks noGrp="1"/>
          </p:cNvSpPr>
          <p:nvPr>
            <p:ph type="title"/>
          </p:nvPr>
        </p:nvSpPr>
        <p:spPr>
          <a:xfrm>
            <a:off x="838200" y="243086"/>
            <a:ext cx="10515600" cy="763022"/>
          </a:xfrm>
        </p:spPr>
        <p:txBody>
          <a:bodyPr/>
          <a:lstStyle/>
          <a:p>
            <a:pPr algn="ctr"/>
            <a:r>
              <a:rPr lang="en-US" b="1" dirty="0">
                <a:solidFill>
                  <a:srgbClr val="800000"/>
                </a:solidFill>
              </a:rPr>
              <a:t>Formulas: CPI, Mu and Sigma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140864-4472-EF7F-1D6F-E9D10CAA9FC2}"/>
                  </a:ext>
                </a:extLst>
              </p:cNvPr>
              <p:cNvSpPr>
                <a:spLocks noGrp="1"/>
              </p:cNvSpPr>
              <p:nvPr>
                <p:ph idx="1"/>
              </p:nvPr>
            </p:nvSpPr>
            <p:spPr>
              <a:xfrm>
                <a:off x="508000" y="1308100"/>
                <a:ext cx="11023600" cy="5549899"/>
              </a:xfrm>
            </p:spPr>
            <p:txBody>
              <a:bodyPr>
                <a:normAutofit/>
              </a:bodyPr>
              <a:lstStyle/>
              <a:p>
                <a:pPr marL="0" marR="0" indent="0" algn="ctr">
                  <a:lnSpc>
                    <a:spcPct val="115000"/>
                  </a:lnSpc>
                  <a:spcBef>
                    <a:spcPts val="0"/>
                  </a:spcBef>
                  <a:spcAft>
                    <a:spcPts val="0"/>
                  </a:spcAft>
                  <a:buNone/>
                </a:pPr>
                <a14:m>
                  <m:oMathPara xmlns:m="http://schemas.openxmlformats.org/officeDocument/2006/math">
                    <m:oMathParaPr>
                      <m:jc m:val="left"/>
                    </m:oMathParaPr>
                    <m:oMath xmlns:m="http://schemas.openxmlformats.org/officeDocument/2006/math">
                      <m:sSub>
                        <m:sSubPr>
                          <m:ctrlPr>
                            <a:rPr lang="en-US" sz="3000" b="1" i="1" kern="100" smtClean="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𝑪𝑷𝑰</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f>
                        <m:f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fPr>
                        <m:num>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𝒂</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num>
                        <m:den>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𝒂</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𝒃</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𝒄</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den>
                      </m:f>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f>
                        <m:f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fPr>
                        <m:num>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𝒂</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num>
                        <m:den>
                          <m:sSub>
                            <m:sSubPr>
                              <m:ctrlP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𝒏</m:t>
                              </m:r>
                            </m:e>
                            <m:sub>
                              <m:r>
                                <a:rPr lang="en-US" sz="3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𝒌</m:t>
                              </m:r>
                            </m:sub>
                          </m:sSub>
                        </m:den>
                      </m:f>
                    </m:oMath>
                  </m:oMathPara>
                </a14:m>
                <a:endParaRPr lang="en-US" sz="3000" b="1" kern="1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marR="0" indent="0" algn="ctr">
                  <a:lnSpc>
                    <a:spcPct val="115000"/>
                  </a:lnSpc>
                  <a:spcBef>
                    <a:spcPts val="0"/>
                  </a:spcBef>
                  <a:spcAft>
                    <a:spcPts val="0"/>
                  </a:spcAft>
                  <a:buNone/>
                </a:pPr>
                <a:endParaRPr lang="en-US" sz="2800" b="0" i="1" kern="100" dirty="0">
                  <a:solidFill>
                    <a:srgbClr val="000000"/>
                  </a:solidFill>
                  <a:effectLst/>
                  <a:uFill>
                    <a:solidFill>
                      <a:srgbClr val="000000"/>
                    </a:solidFill>
                  </a:uFill>
                  <a:latin typeface="Cambria Math" panose="02040503050406030204" pitchFamily="18" charset="0"/>
                  <a:ea typeface="Arial Unicode MS"/>
                  <a:cs typeface="Arial Unicode MS"/>
                </a:endParaRPr>
              </a:p>
              <a:p>
                <a:pPr marL="0" marR="0" indent="0" algn="ctr">
                  <a:lnSpc>
                    <a:spcPct val="115000"/>
                  </a:lnSpc>
                  <a:spcBef>
                    <a:spcPts val="0"/>
                  </a:spcBef>
                  <a:spcAft>
                    <a:spcPts val="0"/>
                  </a:spcAft>
                  <a:buNone/>
                </a:pPr>
                <a14:m>
                  <m:oMathPara xmlns:m="http://schemas.openxmlformats.org/officeDocument/2006/math">
                    <m:oMathParaPr>
                      <m:jc m:val="left"/>
                    </m:oMathParaPr>
                    <m:oMath xmlns:m="http://schemas.openxmlformats.org/officeDocument/2006/math">
                      <m:r>
                        <a:rPr lang="en-US" sz="2800" b="1" i="1" kern="100" smtClean="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 </m:t>
                      </m:r>
                      <m:r>
                        <a:rPr lang="en-US" sz="2800" b="1" i="1" kern="100" smtClean="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𝝁</m:t>
                      </m:r>
                      <m:r>
                        <a:rPr lang="en-US" sz="2800" b="1" i="1" kern="100" smtClean="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f>
                        <m:fPr>
                          <m:ctrlP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fPr>
                        <m:num>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𝟏</m:t>
                          </m:r>
                        </m:num>
                        <m:den>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𝑵</m:t>
                          </m:r>
                        </m:den>
                      </m:f>
                      <m:nary>
                        <m:naryPr>
                          <m:chr m:val="∑"/>
                          <m:limLoc m:val="undOvr"/>
                          <m:ctrlP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naryPr>
                        <m:sub>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𝒅</m:t>
                          </m:r>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m:t>
                          </m:r>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𝟏</m:t>
                          </m:r>
                        </m:sub>
                        <m:sup>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𝑵</m:t>
                          </m:r>
                        </m:sup>
                        <m:e>
                          <m:sSub>
                            <m:sSubPr>
                              <m:ctrlPr>
                                <a:rPr lang="en-US" sz="20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ctrlPr>
                            </m:sSubPr>
                            <m:e>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𝑪𝑷𝑰</m:t>
                              </m:r>
                            </m:e>
                            <m:sub>
                              <m:r>
                                <a:rPr lang="en-US" sz="2800" b="1" i="1" kern="100">
                                  <a:solidFill>
                                    <a:schemeClr val="tx2">
                                      <a:lumMod val="75000"/>
                                      <a:lumOff val="25000"/>
                                    </a:schemeClr>
                                  </a:solidFill>
                                  <a:effectLst/>
                                  <a:uFill>
                                    <a:solidFill>
                                      <a:srgbClr val="000000"/>
                                    </a:solidFill>
                                  </a:uFill>
                                  <a:latin typeface="Cambria Math" panose="02040503050406030204" pitchFamily="18" charset="0"/>
                                  <a:ea typeface="Arial Unicode MS"/>
                                  <a:cs typeface="Arial Unicode MS"/>
                                </a:rPr>
                                <m:t>𝒅</m:t>
                              </m:r>
                            </m:sub>
                          </m:sSub>
                        </m:e>
                      </m:nary>
                    </m:oMath>
                  </m:oMathPara>
                </a14:m>
                <a:endParaRPr lang="en-US" sz="2800" b="1" i="1" kern="100" dirty="0">
                  <a:solidFill>
                    <a:srgbClr val="000000"/>
                  </a:solidFill>
                  <a:effectLst/>
                  <a:uFill>
                    <a:solidFill>
                      <a:srgbClr val="000000"/>
                    </a:solidFill>
                  </a:uFill>
                  <a:latin typeface="Cambria Math" panose="02040503050406030204" pitchFamily="18" charset="0"/>
                  <a:ea typeface="Arial Unicode MS"/>
                  <a:cs typeface="Arial Unicode MS"/>
                </a:endParaRPr>
              </a:p>
              <a:p>
                <a:pPr marL="0" marR="0" indent="0" algn="ctr">
                  <a:lnSpc>
                    <a:spcPct val="115000"/>
                  </a:lnSpc>
                  <a:spcBef>
                    <a:spcPts val="0"/>
                  </a:spcBef>
                  <a:spcAft>
                    <a:spcPts val="0"/>
                  </a:spcAft>
                  <a:buNone/>
                </a:pPr>
                <a:endParaRPr lang="en-US" sz="1800" i="1" dirty="0">
                  <a:effectLst/>
                  <a:latin typeface="Cambria Math" panose="02040503050406030204" pitchFamily="18" charset="0"/>
                  <a:ea typeface="Arial Unicode MS"/>
                  <a:cs typeface="Times New Roman" panose="02020603050405020304" pitchFamily="18" charset="0"/>
                </a:endParaRPr>
              </a:p>
              <a:p>
                <a:pPr marL="0" marR="0" indent="0" algn="ctr">
                  <a:lnSpc>
                    <a:spcPct val="115000"/>
                  </a:lnSpc>
                  <a:spcBef>
                    <a:spcPts val="0"/>
                  </a:spcBef>
                  <a:spcAft>
                    <a:spcPts val="0"/>
                  </a:spcAft>
                  <a:buNone/>
                </a:pPr>
                <a14:m>
                  <m:oMathPara xmlns:m="http://schemas.openxmlformats.org/officeDocument/2006/math">
                    <m:oMathParaPr>
                      <m:jc m:val="left"/>
                    </m:oMathParaPr>
                    <m:oMath xmlns:m="http://schemas.openxmlformats.org/officeDocument/2006/math">
                      <m:r>
                        <a:rPr lang="en-US" b="1" i="1" smtClean="0">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𝝈</m:t>
                      </m:r>
                      <m:r>
                        <a:rPr lang="en-US" b="1" i="1" smtClean="0">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rad>
                        <m:radPr>
                          <m:degHide m:val="on"/>
                          <m:ctrlPr>
                            <a:rPr lang="en-US" b="1" i="1">
                              <a:solidFill>
                                <a:schemeClr val="tx2">
                                  <a:lumMod val="75000"/>
                                  <a:lumOff val="25000"/>
                                </a:schemeClr>
                              </a:solidFill>
                              <a:effectLst/>
                              <a:latin typeface="Cambria Math" panose="02040503050406030204" pitchFamily="18" charset="0"/>
                            </a:rPr>
                          </m:ctrlPr>
                        </m:radPr>
                        <m:deg/>
                        <m:e>
                          <m:f>
                            <m:fPr>
                              <m:ctrlPr>
                                <a:rPr lang="en-US" b="1" i="1">
                                  <a:solidFill>
                                    <a:schemeClr val="tx2">
                                      <a:lumMod val="75000"/>
                                      <a:lumOff val="25000"/>
                                    </a:schemeClr>
                                  </a:solidFill>
                                  <a:effectLst/>
                                  <a:latin typeface="Cambria Math" panose="02040503050406030204" pitchFamily="18" charset="0"/>
                                </a:rPr>
                              </m:ctrlPr>
                            </m:fPr>
                            <m:num>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𝟏</m:t>
                              </m:r>
                            </m:num>
                            <m:den>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𝑵</m:t>
                              </m:r>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𝟏</m:t>
                              </m:r>
                            </m:den>
                          </m:f>
                          <m:nary>
                            <m:naryPr>
                              <m:chr m:val="∑"/>
                              <m:limLoc m:val="undOvr"/>
                              <m:ctrlPr>
                                <a:rPr lang="en-US" b="1" i="1">
                                  <a:solidFill>
                                    <a:schemeClr val="tx2">
                                      <a:lumMod val="75000"/>
                                      <a:lumOff val="25000"/>
                                    </a:schemeClr>
                                  </a:solidFill>
                                  <a:effectLst/>
                                  <a:latin typeface="Cambria Math" panose="02040503050406030204" pitchFamily="18" charset="0"/>
                                </a:rPr>
                              </m:ctrlPr>
                            </m:naryPr>
                            <m:sub>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𝒅</m:t>
                              </m:r>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𝟏</m:t>
                              </m:r>
                            </m:sub>
                            <m:sup>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𝑵</m:t>
                              </m:r>
                            </m:sup>
                            <m:e>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e>
                          </m:nary>
                          <m:sSub>
                            <m:sSubPr>
                              <m:ctrlPr>
                                <a:rPr lang="en-US" b="1" i="1">
                                  <a:solidFill>
                                    <a:schemeClr val="tx2">
                                      <a:lumMod val="75000"/>
                                      <a:lumOff val="25000"/>
                                    </a:schemeClr>
                                  </a:solidFill>
                                  <a:effectLst/>
                                  <a:latin typeface="Cambria Math" panose="02040503050406030204" pitchFamily="18" charset="0"/>
                                </a:rPr>
                              </m:ctrlPr>
                            </m:sSubPr>
                            <m:e>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𝑪𝑷𝑰</m:t>
                              </m:r>
                            </m:e>
                            <m:sub>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𝒅</m:t>
                              </m:r>
                            </m:sub>
                          </m:sSub>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𝝁</m:t>
                          </m:r>
                          <m:sSup>
                            <m:sSupPr>
                              <m:ctrlPr>
                                <a:rPr lang="en-US" b="1" i="1">
                                  <a:solidFill>
                                    <a:schemeClr val="tx2">
                                      <a:lumMod val="75000"/>
                                      <a:lumOff val="25000"/>
                                    </a:schemeClr>
                                  </a:solidFill>
                                  <a:effectLst/>
                                  <a:latin typeface="Cambria Math" panose="02040503050406030204" pitchFamily="18" charset="0"/>
                                </a:rPr>
                              </m:ctrlPr>
                            </m:sSupPr>
                            <m:e>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m:t>
                              </m:r>
                            </m:e>
                            <m:sup>
                              <m:r>
                                <a:rPr lang="en-US" b="1" i="1">
                                  <a:solidFill>
                                    <a:schemeClr val="tx2">
                                      <a:lumMod val="75000"/>
                                      <a:lumOff val="25000"/>
                                    </a:schemeClr>
                                  </a:solidFill>
                                  <a:effectLst/>
                                  <a:latin typeface="Cambria Math" panose="02040503050406030204" pitchFamily="18" charset="0"/>
                                  <a:ea typeface="Arial Unicode MS"/>
                                  <a:cs typeface="Times New Roman" panose="02020603050405020304" pitchFamily="18" charset="0"/>
                                </a:rPr>
                                <m:t>𝟐</m:t>
                              </m:r>
                            </m:sup>
                          </m:sSup>
                        </m:e>
                      </m:rad>
                    </m:oMath>
                  </m:oMathPara>
                </a14:m>
                <a:endParaRPr lang="en-US" b="1" kern="100" dirty="0">
                  <a:solidFill>
                    <a:srgbClr val="000000"/>
                  </a:solidFill>
                  <a:uFill>
                    <a:solidFill>
                      <a:srgbClr val="000000"/>
                    </a:solidFill>
                  </a:uFill>
                  <a:latin typeface="Times New Roman" panose="02020603050405020304" pitchFamily="18" charset="0"/>
                  <a:ea typeface="Arial Unicode MS"/>
                  <a:cs typeface="Arial Unicode MS"/>
                </a:endParaRPr>
              </a:p>
              <a:p>
                <a:pPr marL="0" marR="0" indent="0" algn="ctr">
                  <a:lnSpc>
                    <a:spcPct val="115000"/>
                  </a:lnSpc>
                  <a:spcBef>
                    <a:spcPts val="0"/>
                  </a:spcBef>
                  <a:spcAft>
                    <a:spcPts val="0"/>
                  </a:spcAft>
                  <a:buNone/>
                </a:pPr>
                <a:endParaRPr lang="en-US" sz="2000" kern="1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endParaRPr lang="en-US" dirty="0"/>
              </a:p>
            </p:txBody>
          </p:sp>
        </mc:Choice>
        <mc:Fallback>
          <p:sp>
            <p:nvSpPr>
              <p:cNvPr id="3" name="Content Placeholder 2">
                <a:extLst>
                  <a:ext uri="{FF2B5EF4-FFF2-40B4-BE49-F238E27FC236}">
                    <a16:creationId xmlns:a16="http://schemas.microsoft.com/office/drawing/2014/main" id="{02140864-4472-EF7F-1D6F-E9D10CAA9FC2}"/>
                  </a:ext>
                </a:extLst>
              </p:cNvPr>
              <p:cNvSpPr>
                <a:spLocks noGrp="1" noRot="1" noChangeAspect="1" noMove="1" noResize="1" noEditPoints="1" noAdjustHandles="1" noChangeArrowheads="1" noChangeShapeType="1" noTextEdit="1"/>
              </p:cNvSpPr>
              <p:nvPr>
                <p:ph idx="1"/>
              </p:nvPr>
            </p:nvSpPr>
            <p:spPr>
              <a:xfrm>
                <a:off x="508000" y="1308100"/>
                <a:ext cx="11023600" cy="5549899"/>
              </a:xfr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1EB6A10-DE59-15E9-BE88-DCAFC3A4D8AB}"/>
              </a:ext>
            </a:extLst>
          </p:cNvPr>
          <p:cNvSpPr txBox="1"/>
          <p:nvPr/>
        </p:nvSpPr>
        <p:spPr>
          <a:xfrm>
            <a:off x="5638800" y="301625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C5A502-EE80-1F37-C590-684656A8F3DF}"/>
                  </a:ext>
                </a:extLst>
              </p:cNvPr>
              <p:cNvSpPr txBox="1"/>
              <p:nvPr/>
            </p:nvSpPr>
            <p:spPr>
              <a:xfrm>
                <a:off x="5156200" y="3278535"/>
                <a:ext cx="6375400" cy="954107"/>
              </a:xfrm>
              <a:prstGeom prst="rect">
                <a:avLst/>
              </a:prstGeom>
              <a:noFill/>
            </p:spPr>
            <p:txBody>
              <a:bodyPr wrap="square" rtlCol="0">
                <a:spAutoFit/>
              </a:bodyPr>
              <a:lstStyle/>
              <a:p>
                <a:r>
                  <a:rPr lang="en-US" sz="2800" dirty="0"/>
                  <a:t>Mean CPI (</a:t>
                </a:r>
                <a14:m>
                  <m:oMath xmlns:m="http://schemas.openxmlformats.org/officeDocument/2006/math">
                    <m:r>
                      <a:rPr lang="en-US" sz="2800" i="1" kern="100" smtClean="0">
                        <a:solidFill>
                          <a:srgbClr val="000000"/>
                        </a:solidFill>
                        <a:effectLst/>
                        <a:uFill>
                          <a:solidFill>
                            <a:srgbClr val="000000"/>
                          </a:solidFill>
                        </a:uFill>
                        <a:latin typeface="Cambria Math" panose="02040503050406030204" pitchFamily="18" charset="0"/>
                        <a:ea typeface="Arial Unicode MS"/>
                        <a:cs typeface="Arial Unicode MS"/>
                      </a:rPr>
                      <m:t>𝜇</m:t>
                    </m:r>
                    <m:r>
                      <a:rPr lang="en-US" sz="2800" b="0" i="1" kern="100" smtClean="0">
                        <a:solidFill>
                          <a:srgbClr val="000000"/>
                        </a:solidFill>
                        <a:effectLst/>
                        <a:uFill>
                          <a:solidFill>
                            <a:srgbClr val="000000"/>
                          </a:solidFill>
                        </a:uFill>
                        <a:latin typeface="Cambria Math" panose="02040503050406030204" pitchFamily="18" charset="0"/>
                        <a:ea typeface="Arial Unicode MS"/>
                        <a:cs typeface="Arial Unicode MS"/>
                      </a:rPr>
                      <m:t>)</m:t>
                    </m:r>
                    <m:r>
                      <a:rPr lang="en-US" sz="2800" i="1" kern="100" smtClean="0">
                        <a:solidFill>
                          <a:srgbClr val="000000"/>
                        </a:solidFill>
                        <a:effectLst/>
                        <a:uFill>
                          <a:solidFill>
                            <a:srgbClr val="000000"/>
                          </a:solidFill>
                        </a:uFill>
                        <a:latin typeface="Cambria Math" panose="02040503050406030204" pitchFamily="18" charset="0"/>
                        <a:ea typeface="Arial Unicode MS"/>
                        <a:cs typeface="Arial Unicode MS"/>
                      </a:rPr>
                      <m:t> </m:t>
                    </m:r>
                  </m:oMath>
                </a14:m>
                <a:r>
                  <a:rPr lang="en-US" sz="2800" dirty="0"/>
                  <a:t>depicts what normal looks like over the 30-day training period</a:t>
                </a:r>
              </a:p>
            </p:txBody>
          </p:sp>
        </mc:Choice>
        <mc:Fallback xmlns="">
          <p:sp>
            <p:nvSpPr>
              <p:cNvPr id="9" name="TextBox 8">
                <a:extLst>
                  <a:ext uri="{FF2B5EF4-FFF2-40B4-BE49-F238E27FC236}">
                    <a16:creationId xmlns:a16="http://schemas.microsoft.com/office/drawing/2014/main" id="{64C5A502-EE80-1F37-C590-684656A8F3DF}"/>
                  </a:ext>
                </a:extLst>
              </p:cNvPr>
              <p:cNvSpPr txBox="1">
                <a:spLocks noRot="1" noChangeAspect="1" noMove="1" noResize="1" noEditPoints="1" noAdjustHandles="1" noChangeArrowheads="1" noChangeShapeType="1" noTextEdit="1"/>
              </p:cNvSpPr>
              <p:nvPr/>
            </p:nvSpPr>
            <p:spPr>
              <a:xfrm>
                <a:off x="5156200" y="3278535"/>
                <a:ext cx="6375400" cy="954107"/>
              </a:xfrm>
              <a:prstGeom prst="rect">
                <a:avLst/>
              </a:prstGeom>
              <a:blipFill>
                <a:blip r:embed="rId4"/>
                <a:stretch>
                  <a:fillRect l="-2008" t="-7051" r="-1816" b="-1730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187DFC41-CE95-9722-A357-B42B2B9701C0}"/>
              </a:ext>
            </a:extLst>
          </p:cNvPr>
          <p:cNvSpPr txBox="1"/>
          <p:nvPr/>
        </p:nvSpPr>
        <p:spPr>
          <a:xfrm>
            <a:off x="5156200" y="1430139"/>
            <a:ext cx="6527800" cy="1815882"/>
          </a:xfrm>
          <a:prstGeom prst="rect">
            <a:avLst/>
          </a:prstGeom>
          <a:noFill/>
        </p:spPr>
        <p:txBody>
          <a:bodyPr wrap="square" rtlCol="0">
            <a:spAutoFit/>
          </a:bodyPr>
          <a:lstStyle/>
          <a:p>
            <a:r>
              <a:rPr lang="en-US" sz="2800" dirty="0"/>
              <a:t>Churn Persistence Index (CPI) is the Jaccard similarity of the two populations: Yesterday’s set of transactions vs. Today’s set of transactions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022D303-7BDC-A0E9-498D-E9F3577F3BDC}"/>
                  </a:ext>
                </a:extLst>
              </p:cNvPr>
              <p:cNvSpPr txBox="1"/>
              <p:nvPr/>
            </p:nvSpPr>
            <p:spPr>
              <a:xfrm>
                <a:off x="5156200" y="4873625"/>
                <a:ext cx="6845300" cy="1384995"/>
              </a:xfrm>
              <a:prstGeom prst="rect">
                <a:avLst/>
              </a:prstGeom>
              <a:noFill/>
            </p:spPr>
            <p:txBody>
              <a:bodyPr wrap="square" rtlCol="0">
                <a:spAutoFit/>
              </a:bodyPr>
              <a:lstStyle/>
              <a:p>
                <a:r>
                  <a:rPr lang="en-US" sz="2800" dirty="0"/>
                  <a:t>Standard Deviation</a:t>
                </a:r>
                <a:r>
                  <a:rPr lang="en-US" sz="2800" dirty="0">
                    <a:effectLst/>
                    <a:ea typeface="Arial Unicode MS"/>
                    <a:cs typeface="Times New Roman" panose="02020603050405020304" pitchFamily="18" charset="0"/>
                  </a:rPr>
                  <a:t> (</a:t>
                </a:r>
                <a14:m>
                  <m:oMath xmlns:m="http://schemas.openxmlformats.org/officeDocument/2006/math">
                    <m:r>
                      <a:rPr lang="en-US" sz="2800" i="1" smtClean="0">
                        <a:effectLst/>
                        <a:latin typeface="Cambria Math" panose="02040503050406030204" pitchFamily="18" charset="0"/>
                        <a:ea typeface="Arial Unicode MS"/>
                        <a:cs typeface="Times New Roman" panose="02020603050405020304" pitchFamily="18" charset="0"/>
                      </a:rPr>
                      <m:t>𝜎</m:t>
                    </m:r>
                    <m:r>
                      <a:rPr lang="en-US" sz="2800" b="0" i="1" smtClean="0">
                        <a:effectLst/>
                        <a:latin typeface="Cambria Math" panose="02040503050406030204" pitchFamily="18" charset="0"/>
                        <a:ea typeface="Arial Unicode MS"/>
                        <a:cs typeface="Times New Roman" panose="02020603050405020304" pitchFamily="18" charset="0"/>
                      </a:rPr>
                      <m:t>)</m:t>
                    </m:r>
                  </m:oMath>
                </a14:m>
                <a:r>
                  <a:rPr lang="en-US" sz="2800" dirty="0"/>
                  <a:t> expresses “how bouncy normal is”—how much that transaction type usually wiggles day to day</a:t>
                </a:r>
                <a:r>
                  <a:rPr lang="en-US" dirty="0"/>
                  <a:t>.</a:t>
                </a:r>
              </a:p>
            </p:txBody>
          </p:sp>
        </mc:Choice>
        <mc:Fallback xmlns="">
          <p:sp>
            <p:nvSpPr>
              <p:cNvPr id="12" name="TextBox 11">
                <a:extLst>
                  <a:ext uri="{FF2B5EF4-FFF2-40B4-BE49-F238E27FC236}">
                    <a16:creationId xmlns:a16="http://schemas.microsoft.com/office/drawing/2014/main" id="{9022D303-7BDC-A0E9-498D-E9F3577F3BDC}"/>
                  </a:ext>
                </a:extLst>
              </p:cNvPr>
              <p:cNvSpPr txBox="1">
                <a:spLocks noRot="1" noChangeAspect="1" noMove="1" noResize="1" noEditPoints="1" noAdjustHandles="1" noChangeArrowheads="1" noChangeShapeType="1" noTextEdit="1"/>
              </p:cNvSpPr>
              <p:nvPr/>
            </p:nvSpPr>
            <p:spPr>
              <a:xfrm>
                <a:off x="5156200" y="4873625"/>
                <a:ext cx="6845300" cy="1384995"/>
              </a:xfrm>
              <a:prstGeom prst="rect">
                <a:avLst/>
              </a:prstGeom>
              <a:blipFill>
                <a:blip r:embed="rId5"/>
                <a:stretch>
                  <a:fillRect l="-1870" t="-4386" b="-10965"/>
                </a:stretch>
              </a:blipFill>
            </p:spPr>
            <p:txBody>
              <a:bodyPr/>
              <a:lstStyle/>
              <a:p>
                <a:r>
                  <a:rPr lang="en-US">
                    <a:noFill/>
                  </a:rPr>
                  <a:t> </a:t>
                </a:r>
              </a:p>
            </p:txBody>
          </p:sp>
        </mc:Fallback>
      </mc:AlternateContent>
    </p:spTree>
    <p:extLst>
      <p:ext uri="{BB962C8B-B14F-4D97-AF65-F5344CB8AC3E}">
        <p14:creationId xmlns:p14="http://schemas.microsoft.com/office/powerpoint/2010/main" val="3206050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59129-C826-ED01-CB05-790686EDD431}"/>
              </a:ext>
            </a:extLst>
          </p:cNvPr>
          <p:cNvSpPr>
            <a:spLocks noGrp="1"/>
          </p:cNvSpPr>
          <p:nvPr>
            <p:ph type="title"/>
          </p:nvPr>
        </p:nvSpPr>
        <p:spPr>
          <a:xfrm>
            <a:off x="622300" y="365125"/>
            <a:ext cx="11074400" cy="1325563"/>
          </a:xfrm>
        </p:spPr>
        <p:txBody>
          <a:bodyPr/>
          <a:lstStyle/>
          <a:p>
            <a:r>
              <a:rPr lang="en-US" b="1" i="1" dirty="0"/>
              <a:t>Z </a:t>
            </a:r>
            <a:r>
              <a:rPr lang="en-US" b="1" dirty="0"/>
              <a:t>as warning level:</a:t>
            </a:r>
            <a:r>
              <a:rPr lang="en-US" b="1" i="1" dirty="0"/>
              <a:t> </a:t>
            </a:r>
            <a:r>
              <a:rPr lang="en-US" b="1" dirty="0"/>
              <a:t>“How </a:t>
            </a:r>
            <a:r>
              <a:rPr lang="en-US" b="1" i="1" dirty="0"/>
              <a:t>serious </a:t>
            </a:r>
            <a:r>
              <a:rPr lang="en-US" b="1" dirty="0"/>
              <a:t>is this churn . . </a:t>
            </a:r>
            <a:r>
              <a:rPr lang="en-US" b="1" i="1" dirty="0"/>
              <a:t>really</a:t>
            </a:r>
            <a:r>
              <a:rPr lang="en-US" b="1" dirty="0"/>
              <a:t>?”</a:t>
            </a:r>
          </a:p>
        </p:txBody>
      </p:sp>
      <p:sp>
        <p:nvSpPr>
          <p:cNvPr id="3" name="Content Placeholder 2">
            <a:extLst>
              <a:ext uri="{FF2B5EF4-FFF2-40B4-BE49-F238E27FC236}">
                <a16:creationId xmlns:a16="http://schemas.microsoft.com/office/drawing/2014/main" id="{5194B902-2793-D624-0444-9785C1906C46}"/>
              </a:ext>
            </a:extLst>
          </p:cNvPr>
          <p:cNvSpPr>
            <a:spLocks noGrp="1"/>
          </p:cNvSpPr>
          <p:nvPr>
            <p:ph idx="1"/>
          </p:nvPr>
        </p:nvSpPr>
        <p:spPr>
          <a:xfrm>
            <a:off x="357187" y="3429000"/>
            <a:ext cx="11477625" cy="1966912"/>
          </a:xfrm>
        </p:spPr>
        <p:txBody>
          <a:bodyPr>
            <a:noAutofit/>
          </a:bodyPr>
          <a:lstStyle/>
          <a:p>
            <a:pPr marL="0" indent="0">
              <a:buNone/>
            </a:pPr>
            <a:r>
              <a:rPr lang="en-US" sz="3600" i="1" dirty="0"/>
              <a:t>z</a:t>
            </a:r>
            <a:r>
              <a:rPr lang="en-US" sz="3600" dirty="0"/>
              <a:t> is how many of </a:t>
            </a:r>
            <a:r>
              <a:rPr lang="en-US" sz="3600" i="1" dirty="0"/>
              <a:t>this category’s </a:t>
            </a:r>
            <a:r>
              <a:rPr lang="en-US" sz="3600" dirty="0"/>
              <a:t>own standard deviations tonight’s CPI sits from its </a:t>
            </a:r>
            <a:r>
              <a:rPr lang="en-US" sz="3600" i="1" dirty="0"/>
              <a:t>own </a:t>
            </a:r>
            <a:r>
              <a:rPr lang="en-US" sz="3600" dirty="0"/>
              <a:t>30-day mean. A negative </a:t>
            </a:r>
            <a:r>
              <a:rPr lang="en-US" sz="3600" i="1" dirty="0"/>
              <a:t>z</a:t>
            </a:r>
            <a:r>
              <a:rPr lang="en-US" sz="3600" dirty="0"/>
              <a:t> means tonight’s CPI is below that mean, which is more churn. The warning is well-founded because the distance is measured in this organization’s </a:t>
            </a:r>
            <a:r>
              <a:rPr lang="en-US" sz="3600" i="1" dirty="0"/>
              <a:t>own</a:t>
            </a:r>
            <a:r>
              <a:rPr lang="en-US" sz="3600" dirty="0"/>
              <a:t> spread: |z| &gt; 2 is MEDIUM, and |z| &gt; 3 is HIGH.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4FAE243-880D-0402-2C72-F876700D5910}"/>
                  </a:ext>
                </a:extLst>
              </p:cNvPr>
              <p:cNvSpPr txBox="1"/>
              <p:nvPr/>
            </p:nvSpPr>
            <p:spPr>
              <a:xfrm>
                <a:off x="1485900" y="2037348"/>
                <a:ext cx="8140700" cy="15065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1" i="1" smtClean="0">
                          <a:solidFill>
                            <a:schemeClr val="tx2">
                              <a:lumMod val="75000"/>
                              <a:lumOff val="25000"/>
                            </a:schemeClr>
                          </a:solidFill>
                          <a:latin typeface="Cambria Math" panose="02040503050406030204" pitchFamily="18" charset="0"/>
                        </a:rPr>
                        <m:t>𝒛</m:t>
                      </m:r>
                      <m:r>
                        <a:rPr lang="en-US" sz="3200" b="1" i="1" smtClean="0">
                          <a:solidFill>
                            <a:schemeClr val="tx2">
                              <a:lumMod val="75000"/>
                              <a:lumOff val="25000"/>
                            </a:schemeClr>
                          </a:solidFill>
                          <a:latin typeface="Cambria Math" panose="02040503050406030204" pitchFamily="18" charset="0"/>
                        </a:rPr>
                        <m:t>=</m:t>
                      </m:r>
                      <m:f>
                        <m:fPr>
                          <m:ctrlPr>
                            <a:rPr lang="en-US" sz="3200" b="1" i="1">
                              <a:solidFill>
                                <a:schemeClr val="tx2">
                                  <a:lumMod val="75000"/>
                                  <a:lumOff val="25000"/>
                                </a:schemeClr>
                              </a:solidFill>
                              <a:latin typeface="Cambria Math" panose="02040503050406030204" pitchFamily="18" charset="0"/>
                            </a:rPr>
                          </m:ctrlPr>
                        </m:fPr>
                        <m:num>
                          <m:r>
                            <m:rPr>
                              <m:nor/>
                            </m:rPr>
                            <a:rPr lang="en-US" sz="3200" b="1" i="1">
                              <a:solidFill>
                                <a:schemeClr val="tx2">
                                  <a:lumMod val="75000"/>
                                  <a:lumOff val="25000"/>
                                </a:schemeClr>
                              </a:solidFill>
                            </a:rPr>
                            <m:t>today</m:t>
                          </m:r>
                          <m:r>
                            <m:rPr>
                              <m:nor/>
                            </m:rPr>
                            <a:rPr lang="en-US" sz="3200" b="1" i="1">
                              <a:solidFill>
                                <a:schemeClr val="tx2">
                                  <a:lumMod val="75000"/>
                                  <a:lumOff val="25000"/>
                                </a:schemeClr>
                              </a:solidFill>
                            </a:rPr>
                            <m:t>’</m:t>
                          </m:r>
                          <m:r>
                            <m:rPr>
                              <m:nor/>
                            </m:rPr>
                            <a:rPr lang="en-US" sz="3200" b="1" i="1">
                              <a:solidFill>
                                <a:schemeClr val="tx2">
                                  <a:lumMod val="75000"/>
                                  <a:lumOff val="25000"/>
                                </a:schemeClr>
                              </a:solidFill>
                            </a:rPr>
                            <m:t>s</m:t>
                          </m:r>
                          <m:r>
                            <m:rPr>
                              <m:nor/>
                            </m:rPr>
                            <a:rPr lang="en-US" sz="3200" b="1" i="1">
                              <a:solidFill>
                                <a:schemeClr val="tx2">
                                  <a:lumMod val="75000"/>
                                  <a:lumOff val="25000"/>
                                </a:schemeClr>
                              </a:solidFill>
                            </a:rPr>
                            <m:t> </m:t>
                          </m:r>
                          <m:r>
                            <m:rPr>
                              <m:nor/>
                            </m:rPr>
                            <a:rPr lang="en-US" sz="3200" b="1" i="1">
                              <a:solidFill>
                                <a:schemeClr val="tx2">
                                  <a:lumMod val="75000"/>
                                  <a:lumOff val="25000"/>
                                </a:schemeClr>
                              </a:solidFill>
                            </a:rPr>
                            <m:t>CPI</m:t>
                          </m:r>
                          <m:r>
                            <a:rPr lang="en-US" sz="3200" b="1" i="1">
                              <a:solidFill>
                                <a:schemeClr val="tx2">
                                  <a:lumMod val="75000"/>
                                  <a:lumOff val="25000"/>
                                </a:schemeClr>
                              </a:solidFill>
                              <a:latin typeface="Cambria Math" panose="02040503050406030204" pitchFamily="18" charset="0"/>
                            </a:rPr>
                            <m:t>−</m:t>
                          </m:r>
                          <m:r>
                            <a:rPr lang="en-US" sz="3200" b="1" i="1">
                              <a:solidFill>
                                <a:schemeClr val="tx2">
                                  <a:lumMod val="75000"/>
                                  <a:lumOff val="25000"/>
                                </a:schemeClr>
                              </a:solidFill>
                              <a:latin typeface="Cambria Math" panose="02040503050406030204" pitchFamily="18" charset="0"/>
                            </a:rPr>
                            <m:t>𝝁</m:t>
                          </m:r>
                        </m:num>
                        <m:den>
                          <m:r>
                            <a:rPr lang="en-US" sz="3200" b="1" i="1">
                              <a:solidFill>
                                <a:schemeClr val="tx2">
                                  <a:lumMod val="75000"/>
                                  <a:lumOff val="25000"/>
                                </a:schemeClr>
                              </a:solidFill>
                              <a:latin typeface="Cambria Math" panose="02040503050406030204" pitchFamily="18" charset="0"/>
                            </a:rPr>
                            <m:t>𝝈</m:t>
                          </m:r>
                        </m:den>
                      </m:f>
                    </m:oMath>
                  </m:oMathPara>
                </a14:m>
                <a:endParaRPr lang="en-US" sz="3200" b="1" dirty="0"/>
              </a:p>
              <a:p>
                <a:endParaRPr lang="en-US" sz="3200" dirty="0"/>
              </a:p>
            </p:txBody>
          </p:sp>
        </mc:Choice>
        <mc:Fallback xmlns="">
          <p:sp>
            <p:nvSpPr>
              <p:cNvPr id="4" name="TextBox 3">
                <a:extLst>
                  <a:ext uri="{FF2B5EF4-FFF2-40B4-BE49-F238E27FC236}">
                    <a16:creationId xmlns:a16="http://schemas.microsoft.com/office/drawing/2014/main" id="{D4FAE243-880D-0402-2C72-F876700D5910}"/>
                  </a:ext>
                </a:extLst>
              </p:cNvPr>
              <p:cNvSpPr txBox="1">
                <a:spLocks noRot="1" noChangeAspect="1" noMove="1" noResize="1" noEditPoints="1" noAdjustHandles="1" noChangeArrowheads="1" noChangeShapeType="1" noTextEdit="1"/>
              </p:cNvSpPr>
              <p:nvPr/>
            </p:nvSpPr>
            <p:spPr>
              <a:xfrm>
                <a:off x="1485900" y="2037348"/>
                <a:ext cx="8140700" cy="150656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581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349D-CA53-4F8A-F2F1-9BFE5221EF18}"/>
              </a:ext>
            </a:extLst>
          </p:cNvPr>
          <p:cNvSpPr>
            <a:spLocks noGrp="1"/>
          </p:cNvSpPr>
          <p:nvPr>
            <p:ph type="title"/>
          </p:nvPr>
        </p:nvSpPr>
        <p:spPr/>
        <p:txBody>
          <a:bodyPr/>
          <a:lstStyle/>
          <a:p>
            <a:r>
              <a:rPr lang="en-US" b="1" dirty="0">
                <a:solidFill>
                  <a:srgbClr val="800000"/>
                </a:solidFill>
              </a:rPr>
              <a:t>Next?</a:t>
            </a:r>
          </a:p>
        </p:txBody>
      </p:sp>
      <p:sp>
        <p:nvSpPr>
          <p:cNvPr id="3" name="Content Placeholder 2">
            <a:extLst>
              <a:ext uri="{FF2B5EF4-FFF2-40B4-BE49-F238E27FC236}">
                <a16:creationId xmlns:a16="http://schemas.microsoft.com/office/drawing/2014/main" id="{0FA16286-DB9A-7A07-4A59-BB4733531906}"/>
              </a:ext>
            </a:extLst>
          </p:cNvPr>
          <p:cNvSpPr>
            <a:spLocks noGrp="1"/>
          </p:cNvSpPr>
          <p:nvPr>
            <p:ph idx="1"/>
          </p:nvPr>
        </p:nvSpPr>
        <p:spPr>
          <a:xfrm>
            <a:off x="838200" y="1546224"/>
            <a:ext cx="10515600" cy="4854575"/>
          </a:xfrm>
        </p:spPr>
        <p:txBody>
          <a:bodyPr>
            <a:normAutofit lnSpcReduction="10000"/>
          </a:bodyPr>
          <a:lstStyle/>
          <a:p>
            <a:r>
              <a:rPr lang="en-US" dirty="0"/>
              <a:t>Clone NGAME-CM (Autonomous Continuous Monitoring Engine): </a:t>
            </a:r>
            <a:r>
              <a:rPr lang="en-US" b="1" dirty="0"/>
              <a:t>http://github.org/ronaldcturner/ngame-cm </a:t>
            </a:r>
          </a:p>
          <a:p>
            <a:r>
              <a:rPr lang="en-US" dirty="0"/>
              <a:t>Browse through manuals for the IT and the FRP.</a:t>
            </a:r>
          </a:p>
          <a:p>
            <a:r>
              <a:rPr lang="en-US" dirty="0"/>
              <a:t>Help protect your favorite small (non-profit, charity, congregation, community…) organization by using the 36-Page </a:t>
            </a:r>
            <a:r>
              <a:rPr lang="en-US" i="1" dirty="0"/>
              <a:t>NGAME-CM — Installation Guide</a:t>
            </a:r>
            <a:r>
              <a:rPr lang="en-US" dirty="0"/>
              <a:t> to deploy NGAME-CM.</a:t>
            </a:r>
          </a:p>
          <a:p>
            <a:r>
              <a:rPr lang="en-US" dirty="0"/>
              <a:t>Cannibalize the codebase </a:t>
            </a:r>
            <a:r>
              <a:rPr lang="en-US" i="1" dirty="0"/>
              <a:t>imaginatively</a:t>
            </a:r>
            <a:r>
              <a:rPr lang="en-US" dirty="0"/>
              <a:t> to apply Churn for effective, small-footprint anomaly detection in other time-series applications.</a:t>
            </a:r>
          </a:p>
          <a:p>
            <a:r>
              <a:rPr lang="en-US" dirty="0"/>
              <a:t>Write to me at </a:t>
            </a:r>
            <a:r>
              <a:rPr lang="en-US" dirty="0">
                <a:hlinkClick r:id="rId3"/>
              </a:rPr>
              <a:t>RonTurnersBox@gmail.com</a:t>
            </a:r>
            <a:r>
              <a:rPr lang="en-US" dirty="0"/>
              <a:t> </a:t>
            </a:r>
          </a:p>
          <a:p>
            <a:r>
              <a:rPr lang="en-US" dirty="0"/>
              <a:t>Come to </a:t>
            </a:r>
            <a:r>
              <a:rPr lang="en-US" dirty="0">
                <a:hlinkClick r:id="rId4" action="ppaction://hlinkfile"/>
              </a:rPr>
              <a:t>Audithentic.ai </a:t>
            </a:r>
            <a:r>
              <a:rPr lang="en-US" dirty="0"/>
              <a:t>to see an exec-level description of NGAME</a:t>
            </a:r>
          </a:p>
          <a:p>
            <a:endParaRPr lang="en-US" dirty="0"/>
          </a:p>
        </p:txBody>
      </p:sp>
      <p:sp>
        <p:nvSpPr>
          <p:cNvPr id="4" name="Rectangle 3">
            <a:extLst>
              <a:ext uri="{FF2B5EF4-FFF2-40B4-BE49-F238E27FC236}">
                <a16:creationId xmlns:a16="http://schemas.microsoft.com/office/drawing/2014/main" id="{070021EB-4494-136D-70C8-4FD9CED80133}"/>
              </a:ext>
            </a:extLst>
          </p:cNvPr>
          <p:cNvSpPr/>
          <p:nvPr/>
        </p:nvSpPr>
        <p:spPr>
          <a:xfrm>
            <a:off x="6284768" y="1947430"/>
            <a:ext cx="1806286" cy="33337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5644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12943</TotalTime>
  <Words>2447</Words>
  <Application>Microsoft Office PowerPoint</Application>
  <PresentationFormat>Widescreen</PresentationFormat>
  <Paragraphs>150</Paragraphs>
  <Slides>30</Slides>
  <Notes>19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30</vt:i4>
      </vt:variant>
    </vt:vector>
  </HeadingPairs>
  <TitlesOfParts>
    <vt:vector size="43" baseType="lpstr">
      <vt:lpstr>American Typewriter</vt:lpstr>
      <vt:lpstr>Aptos</vt:lpstr>
      <vt:lpstr>Aptos Display</vt:lpstr>
      <vt:lpstr>Arial</vt:lpstr>
      <vt:lpstr>Arial Unicode MS</vt:lpstr>
      <vt:lpstr>Calibri</vt:lpstr>
      <vt:lpstr>Cambria Math</vt:lpstr>
      <vt:lpstr>Google Sans;Arial;sans-serif</vt:lpstr>
      <vt:lpstr>Liberation Serif</vt:lpstr>
      <vt:lpstr>Symbol</vt:lpstr>
      <vt:lpstr>Times New Roman</vt:lpstr>
      <vt:lpstr>Office Theme</vt:lpstr>
      <vt:lpstr>Simple Light</vt:lpstr>
      <vt:lpstr>PowerPoint Presentation</vt:lpstr>
      <vt:lpstr>Road Map: Outcomes and Takeaways</vt:lpstr>
      <vt:lpstr>PowerPoint Presentation</vt:lpstr>
      <vt:lpstr>QBO Audit Log</vt:lpstr>
      <vt:lpstr>PowerPoint Presentation</vt:lpstr>
      <vt:lpstr>PowerPoint Presentation</vt:lpstr>
      <vt:lpstr>PowerPoint Presentation</vt:lpstr>
      <vt:lpstr>OWL for Lossless Semantics</vt:lpstr>
      <vt:lpstr>PowerPoint Presentation</vt:lpstr>
      <vt:lpstr>PowerPoint Presentation</vt:lpstr>
      <vt:lpstr>PowerPoint Presentation</vt:lpstr>
      <vt:lpstr>PowerPoint Presentation</vt:lpstr>
      <vt:lpstr>Warning to FRP: auto-texted notification</vt:lpstr>
      <vt:lpstr>PowerPoint Presentation</vt:lpstr>
      <vt:lpstr>Churn Warning</vt:lpstr>
      <vt:lpstr>Credit card warning</vt:lpstr>
      <vt:lpstr>Multi-Day Alert</vt:lpstr>
      <vt:lpstr>Vendors Alert</vt:lpstr>
      <vt:lpstr>Agent-Driven Architecture</vt:lpstr>
      <vt:lpstr>Training: 30-Day Baseline of Transaction Churn</vt:lpstr>
      <vt:lpstr>Training Matrix</vt:lpstr>
      <vt:lpstr>Anomaly Detection: Unusual Churn(s) </vt:lpstr>
      <vt:lpstr>Fraud Detection: Possible Asset Misappropriation</vt:lpstr>
      <vt:lpstr>PowerPoint Presentation</vt:lpstr>
      <vt:lpstr>Filling the Jaccard boxes</vt:lpstr>
      <vt:lpstr>Ghost vendor activity</vt:lpstr>
      <vt:lpstr>Calculating the Churn Persistence Index (CPI)</vt:lpstr>
      <vt:lpstr>Formulas: CPI, Mu and Sigma</vt:lpstr>
      <vt:lpstr>Z as warning level: “How serious is this churn . . really?”</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dc:creator>
  <cp:lastModifiedBy>Ron Turner</cp:lastModifiedBy>
  <cp:revision>121</cp:revision>
  <dcterms:created xsi:type="dcterms:W3CDTF">2026-10-15T16:48:32Z</dcterms:created>
  <dcterms:modified xsi:type="dcterms:W3CDTF">2026-10-27T04:12:55Z</dcterms:modified>
</cp:coreProperties>
</file>